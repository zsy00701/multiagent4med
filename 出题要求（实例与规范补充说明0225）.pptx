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306" r:id="rId3"/>
    <p:sldId id="328" r:id="rId4"/>
    <p:sldId id="329" r:id="rId5"/>
    <p:sldId id="330" r:id="rId6"/>
    <p:sldId id="331" r:id="rId7"/>
    <p:sldId id="332" r:id="rId8"/>
    <p:sldId id="321" r:id="rId9"/>
    <p:sldId id="323" r:id="rId10"/>
    <p:sldId id="322" r:id="rId11"/>
    <p:sldId id="333" r:id="rId12"/>
    <p:sldId id="334" r:id="rId13"/>
    <p:sldId id="335" r:id="rId14"/>
    <p:sldId id="324" r:id="rId15"/>
    <p:sldId id="325" r:id="rId16"/>
    <p:sldId id="336" r:id="rId17"/>
    <p:sldId id="32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en-US"/>
              <a:t>AI </a:t>
            </a:r>
            <a:r>
              <a:rPr lang="zh-CN" altLang="en-US"/>
              <a:t>辅助医学出题技巧与实战规范（实例</a:t>
            </a:r>
            <a:r>
              <a:rPr lang="zh-CN" altLang="en-US"/>
              <a:t>展示）</a:t>
            </a:r>
            <a:endParaRPr lang="zh-CN" altLang="en-US"/>
          </a:p>
        </p:txBody>
      </p:sp>
      <p:sp>
        <p:nvSpPr>
          <p:cNvPr id="3" name="副标题 2"/>
          <p:cNvSpPr>
            <a:spLocks noGrp="1"/>
          </p:cNvSpPr>
          <p:nvPr>
            <p:ph type="subTitle" idx="1"/>
          </p:nvPr>
        </p:nvSpPr>
        <p:spPr/>
        <p:txBody>
          <a:bodyPr/>
          <a:p>
            <a:r>
              <a:rPr lang="zh-CN" altLang="en-US"/>
              <a:t>副标题：从</a:t>
            </a:r>
            <a:r>
              <a:rPr lang="en-US" altLang="zh-CN"/>
              <a:t> Prompt </a:t>
            </a:r>
            <a:r>
              <a:rPr lang="zh-CN" altLang="en-US"/>
              <a:t>设计到题型转换的深度解析</a:t>
            </a:r>
            <a:endParaRPr lang="en-US" altLang="zh-CN"/>
          </a:p>
          <a:p>
            <a:r>
              <a:rPr lang="zh-CN" altLang="zh-CN"/>
              <a:t>陈亚龙</a:t>
            </a: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几种修改方法参考（</a:t>
            </a:r>
            <a:r>
              <a:rPr lang="zh-CN" altLang="en-US"/>
              <a:t>护理）</a:t>
            </a:r>
            <a:endParaRPr lang="zh-CN" altLang="en-US"/>
          </a:p>
        </p:txBody>
      </p:sp>
      <p:sp>
        <p:nvSpPr>
          <p:cNvPr id="5" name="内容占位符 4"/>
          <p:cNvSpPr/>
          <p:nvPr>
            <p:ph idx="1"/>
          </p:nvPr>
        </p:nvSpPr>
        <p:spPr/>
        <p:txBody>
          <a:bodyPr/>
          <a:p>
            <a:endParaRPr lang="zh-CN" altLang="en-US"/>
          </a:p>
        </p:txBody>
      </p:sp>
      <p:pic>
        <p:nvPicPr>
          <p:cNvPr id="6" name="图片 5" descr="1771658902364"/>
          <p:cNvPicPr>
            <a:picLocks noChangeAspect="1"/>
          </p:cNvPicPr>
          <p:nvPr/>
        </p:nvPicPr>
        <p:blipFill>
          <a:blip r:embed="rId1"/>
          <a:stretch>
            <a:fillRect/>
          </a:stretch>
        </p:blipFill>
        <p:spPr>
          <a:xfrm>
            <a:off x="838200" y="1395095"/>
            <a:ext cx="6654165" cy="49542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第一：增加</a:t>
            </a:r>
            <a:r>
              <a:rPr lang="zh-CN" altLang="en-US"/>
              <a:t>内容</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患者，男，</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50</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岁，</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年前于我院体检发现肾占位性病变，行穿刺活检后确诊为肾癌，排除禁忌后于我院</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肾癌根治</a:t>
            </a:r>
            <a:r>
              <a:rPr lang="en-US" altLang="zh-CN"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部分切除术后准备出院，护</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进</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居家康复与</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药宣教。下列指导中，属于正确内容的是（多选）</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A. </a:t>
            </a:r>
            <a:r>
              <a:rPr lang="zh-CN" altLang="en-US" sz="2400">
                <a:latin typeface="宋体" panose="02010600030101010101" pitchFamily="2" charset="-122"/>
                <a:ea typeface="宋体" panose="02010600030101010101" pitchFamily="2" charset="-122"/>
                <a:cs typeface="宋体" panose="02010600030101010101" pitchFamily="2" charset="-122"/>
              </a:rPr>
              <a:t>术后应尽量限制饮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量，以减少肾脏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作负荷</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B. </a:t>
            </a:r>
            <a:r>
              <a:rPr lang="zh-CN" altLang="en-US" sz="2400">
                <a:latin typeface="宋体" panose="02010600030101010101" pitchFamily="2" charset="-122"/>
                <a:ea typeface="宋体" panose="02010600030101010101" pitchFamily="2" charset="-122"/>
                <a:cs typeface="宋体" panose="02010600030101010101" pitchFamily="2" charset="-122"/>
              </a:rPr>
              <a:t>遵医嘱规律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药，并主动避免使</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可能影响肾功能的药物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C. </a:t>
            </a:r>
            <a:r>
              <a:rPr lang="zh-CN" altLang="en-US" sz="2400">
                <a:latin typeface="宋体" panose="02010600030101010101" pitchFamily="2" charset="-122"/>
                <a:ea typeface="宋体" panose="02010600030101010101" pitchFamily="2" charset="-122"/>
                <a:cs typeface="宋体" panose="02010600030101010101" pitchFamily="2" charset="-122"/>
              </a:rPr>
              <a:t>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以营养</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持为主，可选择</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能量、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且易消化并富含维</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素的</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D. </a:t>
            </a:r>
            <a:r>
              <a:rPr lang="zh-CN" altLang="en-US" sz="2400">
                <a:latin typeface="宋体" panose="02010600030101010101" pitchFamily="2" charset="-122"/>
                <a:ea typeface="宋体" panose="02010600030101010101" pitchFamily="2" charset="-122"/>
                <a:cs typeface="宋体" panose="02010600030101010101" pitchFamily="2" charset="-122"/>
              </a:rPr>
              <a:t>逐步恢复</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常活动并注意休息；若为肾部分切除，术后约</a:t>
            </a:r>
            <a:r>
              <a:rPr lang="en-US" altLang="zh-CN" sz="2400">
                <a:latin typeface="宋体" panose="02010600030101010101" pitchFamily="2" charset="-122"/>
                <a:ea typeface="宋体" panose="02010600030101010101" pitchFamily="2" charset="-122"/>
                <a:cs typeface="宋体" panose="02010600030101010101" pitchFamily="2" charset="-122"/>
              </a:rPr>
              <a:t>3</a:t>
            </a:r>
            <a:r>
              <a:rPr lang="zh-CN" altLang="en-US" sz="2400">
                <a:latin typeface="宋体" panose="02010600030101010101" pitchFamily="2" charset="-122"/>
                <a:ea typeface="宋体" panose="02010600030101010101" pitchFamily="2" charset="-122"/>
                <a:cs typeface="宋体" panose="02010600030101010101" pitchFamily="2" charset="-122"/>
              </a:rPr>
              <a:t>个</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内应避免频繁弯腰、深蹲等增加腹压的动作</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第二：将选项替换为全新的有迷惑性的</a:t>
            </a:r>
            <a:r>
              <a:rPr lang="zh-CN" altLang="en-US"/>
              <a:t>选项</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患者，男，</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50</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岁，</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年前于我院体检发现肾占位性病变，行穿刺活检后确诊为肾癌，排除禁忌后于我院</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肾癌根治</a:t>
            </a:r>
            <a:r>
              <a:rPr lang="en-US" altLang="zh-CN"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部分切除术后准备出院，护</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进</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居家康复与</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药宣教。下列指导中，属于正确内容的是（多选）</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A. </a:t>
            </a:r>
            <a:r>
              <a:rPr lang="zh-CN" altLang="en-US" sz="2400">
                <a:latin typeface="宋体" panose="02010600030101010101" pitchFamily="2" charset="-122"/>
                <a:ea typeface="宋体" panose="02010600030101010101" pitchFamily="2" charset="-122"/>
                <a:cs typeface="宋体" panose="02010600030101010101" pitchFamily="2" charset="-122"/>
              </a:rPr>
              <a:t>术后应尽量限制饮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量，以减少肾脏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作负荷</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highlight>
                  <a:srgbClr val="FFFF00"/>
                </a:highlight>
                <a:latin typeface="宋体" panose="02010600030101010101" pitchFamily="2" charset="-122"/>
                <a:ea typeface="宋体" panose="02010600030101010101" pitchFamily="2" charset="-122"/>
                <a:cs typeface="宋体" panose="02010600030101010101" pitchFamily="2" charset="-122"/>
              </a:rPr>
              <a:t>B. </a:t>
            </a:r>
            <a:r>
              <a:rPr lang="zh-CN" altLang="en-US" sz="2400">
                <a:highlight>
                  <a:srgbClr val="FFFF00"/>
                </a:highlight>
                <a:latin typeface="宋体" panose="02010600030101010101" pitchFamily="2" charset="-122"/>
                <a:ea typeface="宋体" panose="02010600030101010101" pitchFamily="2" charset="-122"/>
                <a:cs typeface="宋体" panose="02010600030101010101" pitchFamily="2" charset="-122"/>
              </a:rPr>
              <a:t>术后应当每天温水洗澡保证伤口清洁</a:t>
            </a:r>
            <a:endParaRPr lang="zh-CN" altLang="en-US" sz="2400">
              <a:highlight>
                <a:srgbClr val="FFFF00"/>
              </a:highlight>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C. </a:t>
            </a:r>
            <a:r>
              <a:rPr lang="zh-CN" altLang="en-US" sz="2400">
                <a:latin typeface="宋体" panose="02010600030101010101" pitchFamily="2" charset="-122"/>
                <a:ea typeface="宋体" panose="02010600030101010101" pitchFamily="2" charset="-122"/>
                <a:cs typeface="宋体" panose="02010600030101010101" pitchFamily="2" charset="-122"/>
              </a:rPr>
              <a:t>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以营养</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持为主，可选择</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能量、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且易消化并富含维</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素的</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D. </a:t>
            </a:r>
            <a:r>
              <a:rPr lang="zh-CN" altLang="en-US" sz="2400">
                <a:latin typeface="宋体" panose="02010600030101010101" pitchFamily="2" charset="-122"/>
                <a:ea typeface="宋体" panose="02010600030101010101" pitchFamily="2" charset="-122"/>
                <a:cs typeface="宋体" panose="02010600030101010101" pitchFamily="2" charset="-122"/>
              </a:rPr>
              <a:t>逐步恢复</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常活动并注意休息；若为肾部分切除，术后约</a:t>
            </a:r>
            <a:r>
              <a:rPr lang="en-US" altLang="zh-CN" sz="2400">
                <a:latin typeface="宋体" panose="02010600030101010101" pitchFamily="2" charset="-122"/>
                <a:ea typeface="宋体" panose="02010600030101010101" pitchFamily="2" charset="-122"/>
                <a:cs typeface="宋体" panose="02010600030101010101" pitchFamily="2" charset="-122"/>
              </a:rPr>
              <a:t>3</a:t>
            </a:r>
            <a:r>
              <a:rPr lang="zh-CN" altLang="en-US" sz="2400">
                <a:latin typeface="宋体" panose="02010600030101010101" pitchFamily="2" charset="-122"/>
                <a:ea typeface="宋体" panose="02010600030101010101" pitchFamily="2" charset="-122"/>
                <a:cs typeface="宋体" panose="02010600030101010101" pitchFamily="2" charset="-122"/>
              </a:rPr>
              <a:t>个</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内应避免频繁弯腰、深蹲等增加腹压的动作</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第三：将选项同义</a:t>
            </a:r>
            <a:r>
              <a:rPr lang="zh-CN" altLang="en-US"/>
              <a:t>替换</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患者，男，</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50</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岁，</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年前于我院体检发现肾占位性病变，行穿刺活检后确诊为肾癌，排除禁忌后于我院</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肾癌根治</a:t>
            </a:r>
            <a:r>
              <a:rPr lang="en-US" altLang="zh-CN"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部分切除术后准备出院，护</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进</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居家康复与</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药宣教。下列指导中，属于正确内容的是（多选）</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A. </a:t>
            </a:r>
            <a:r>
              <a:rPr lang="zh-CN" altLang="en-US" sz="2400">
                <a:latin typeface="宋体" panose="02010600030101010101" pitchFamily="2" charset="-122"/>
                <a:ea typeface="宋体" panose="02010600030101010101" pitchFamily="2" charset="-122"/>
                <a:cs typeface="宋体" panose="02010600030101010101" pitchFamily="2" charset="-122"/>
              </a:rPr>
              <a:t>术后应</a:t>
            </a:r>
            <a:r>
              <a:rPr lang="zh-CN" altLang="en-US" sz="2400">
                <a:solidFill>
                  <a:srgbClr val="00B0F0"/>
                </a:solidFill>
                <a:latin typeface="宋体" panose="02010600030101010101" pitchFamily="2" charset="-122"/>
                <a:ea typeface="宋体" panose="02010600030101010101" pitchFamily="2" charset="-122"/>
                <a:cs typeface="宋体" panose="02010600030101010101" pitchFamily="2" charset="-122"/>
              </a:rPr>
              <a:t>尽可能</a:t>
            </a:r>
            <a:r>
              <a:rPr lang="en-US" altLang="en-US" sz="2400">
                <a:solidFill>
                  <a:srgbClr val="00B0F0"/>
                </a:solidFill>
                <a:latin typeface="宋体" panose="02010600030101010101" pitchFamily="2" charset="-122"/>
                <a:ea typeface="宋体" panose="02010600030101010101" pitchFamily="2" charset="-122"/>
                <a:cs typeface="宋体" panose="02010600030101010101" pitchFamily="2" charset="-122"/>
              </a:rPr>
              <a:t>控制每日饮水量</a:t>
            </a:r>
            <a:r>
              <a:rPr lang="zh-CN" altLang="en-US" sz="2400">
                <a:latin typeface="宋体" panose="02010600030101010101" pitchFamily="2" charset="-122"/>
                <a:ea typeface="宋体" panose="02010600030101010101" pitchFamily="2" charset="-122"/>
                <a:cs typeface="宋体" panose="02010600030101010101" pitchFamily="2" charset="-122"/>
              </a:rPr>
              <a:t>，以</a:t>
            </a:r>
            <a:r>
              <a:rPr lang="zh-CN" altLang="en-US" sz="2400">
                <a:solidFill>
                  <a:srgbClr val="00B0F0"/>
                </a:solidFill>
                <a:latin typeface="宋体" panose="02010600030101010101" pitchFamily="2" charset="-122"/>
                <a:ea typeface="宋体" panose="02010600030101010101" pitchFamily="2" charset="-122"/>
                <a:cs typeface="宋体" panose="02010600030101010101" pitchFamily="2" charset="-122"/>
              </a:rPr>
              <a:t>减轻</a:t>
            </a:r>
            <a:r>
              <a:rPr lang="zh-CN" altLang="en-US" sz="2400">
                <a:latin typeface="宋体" panose="02010600030101010101" pitchFamily="2" charset="-122"/>
                <a:ea typeface="宋体" panose="02010600030101010101" pitchFamily="2" charset="-122"/>
                <a:cs typeface="宋体" panose="02010600030101010101" pitchFamily="2" charset="-122"/>
              </a:rPr>
              <a:t>肾脏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作负荷</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highlight>
                  <a:srgbClr val="FFFF00"/>
                </a:highlight>
                <a:latin typeface="宋体" panose="02010600030101010101" pitchFamily="2" charset="-122"/>
                <a:ea typeface="宋体" panose="02010600030101010101" pitchFamily="2" charset="-122"/>
                <a:cs typeface="宋体" panose="02010600030101010101" pitchFamily="2" charset="-122"/>
              </a:rPr>
              <a:t>B. </a:t>
            </a:r>
            <a:r>
              <a:rPr lang="zh-CN" altLang="en-US" sz="2400">
                <a:highlight>
                  <a:srgbClr val="FFFF00"/>
                </a:highlight>
                <a:latin typeface="宋体" panose="02010600030101010101" pitchFamily="2" charset="-122"/>
                <a:ea typeface="宋体" panose="02010600030101010101" pitchFamily="2" charset="-122"/>
                <a:cs typeface="宋体" panose="02010600030101010101" pitchFamily="2" charset="-122"/>
              </a:rPr>
              <a:t>术后应当每天温水洗澡保证伤口清洁</a:t>
            </a:r>
            <a:endParaRPr lang="zh-CN" altLang="en-US" sz="2400">
              <a:highlight>
                <a:srgbClr val="FFFF00"/>
              </a:highlight>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C. </a:t>
            </a:r>
            <a:r>
              <a:rPr lang="zh-CN" altLang="en-US" sz="2400">
                <a:latin typeface="宋体" panose="02010600030101010101" pitchFamily="2" charset="-122"/>
                <a:ea typeface="宋体" panose="02010600030101010101" pitchFamily="2" charset="-122"/>
                <a:cs typeface="宋体" panose="02010600030101010101" pitchFamily="2" charset="-122"/>
              </a:rPr>
              <a:t>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以营养</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持为主，可选择</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能量、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且易消化并富含维</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素的</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D. </a:t>
            </a:r>
            <a:r>
              <a:rPr lang="zh-CN" altLang="en-US" sz="2400">
                <a:latin typeface="宋体" panose="02010600030101010101" pitchFamily="2" charset="-122"/>
                <a:ea typeface="宋体" panose="02010600030101010101" pitchFamily="2" charset="-122"/>
                <a:cs typeface="宋体" panose="02010600030101010101" pitchFamily="2" charset="-122"/>
              </a:rPr>
              <a:t>逐步恢复</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常活动并注意休息；若为肾部分切除，术后约</a:t>
            </a:r>
            <a:r>
              <a:rPr lang="en-US" altLang="zh-CN" sz="2400">
                <a:latin typeface="宋体" panose="02010600030101010101" pitchFamily="2" charset="-122"/>
                <a:ea typeface="宋体" panose="02010600030101010101" pitchFamily="2" charset="-122"/>
                <a:cs typeface="宋体" panose="02010600030101010101" pitchFamily="2" charset="-122"/>
              </a:rPr>
              <a:t>3</a:t>
            </a:r>
            <a:r>
              <a:rPr lang="zh-CN" altLang="en-US" sz="2400">
                <a:latin typeface="宋体" panose="02010600030101010101" pitchFamily="2" charset="-122"/>
                <a:ea typeface="宋体" panose="02010600030101010101" pitchFamily="2" charset="-122"/>
                <a:cs typeface="宋体" panose="02010600030101010101" pitchFamily="2" charset="-122"/>
              </a:rPr>
              <a:t>个</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内应避免频繁弯腰、深蹲等增加腹压的动作</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第四：题目</a:t>
            </a:r>
            <a:r>
              <a:rPr lang="zh-CN" altLang="en-US"/>
              <a:t>降维</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sz="2400">
                <a:highlight>
                  <a:srgbClr val="00FF00"/>
                </a:highlight>
                <a:latin typeface="宋体" panose="02010600030101010101" pitchFamily="2" charset="-122"/>
                <a:ea typeface="宋体" panose="02010600030101010101" pitchFamily="2" charset="-122"/>
                <a:cs typeface="宋体" panose="02010600030101010101" pitchFamily="2" charset="-122"/>
              </a:rPr>
              <a:t>肾癌根治</a:t>
            </a:r>
            <a:r>
              <a:rPr lang="en-US" altLang="zh-CN" sz="2400">
                <a:highlight>
                  <a:srgbClr val="00FF00"/>
                </a:highlight>
                <a:latin typeface="宋体" panose="02010600030101010101" pitchFamily="2" charset="-122"/>
                <a:ea typeface="宋体" panose="02010600030101010101" pitchFamily="2" charset="-122"/>
                <a:cs typeface="宋体" panose="02010600030101010101" pitchFamily="2" charset="-122"/>
              </a:rPr>
              <a:t>/</a:t>
            </a:r>
            <a:r>
              <a:rPr lang="zh-CN" altLang="en-US" sz="2400">
                <a:highlight>
                  <a:srgbClr val="00FF00"/>
                </a:highlight>
                <a:latin typeface="宋体" panose="02010600030101010101" pitchFamily="2" charset="-122"/>
                <a:ea typeface="宋体" panose="02010600030101010101" pitchFamily="2" charset="-122"/>
                <a:cs typeface="宋体" panose="02010600030101010101" pitchFamily="2" charset="-122"/>
              </a:rPr>
              <a:t>部分切除术患者出院时</a:t>
            </a:r>
            <a:r>
              <a:rPr lang="zh-CN" altLang="en-US" sz="2400">
                <a:latin typeface="宋体" panose="02010600030101010101" pitchFamily="2" charset="-122"/>
                <a:ea typeface="宋体" panose="02010600030101010101" pitchFamily="2" charset="-122"/>
                <a:cs typeface="宋体" panose="02010600030101010101" pitchFamily="2" charset="-122"/>
              </a:rPr>
              <a:t>护</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进</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居家康复与</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药宣教。下列指导中，</a:t>
            </a:r>
            <a:r>
              <a:rPr lang="zh-CN" altLang="en-US" sz="2400">
                <a:highlight>
                  <a:srgbClr val="00FF00"/>
                </a:highlight>
                <a:latin typeface="宋体" panose="02010600030101010101" pitchFamily="2" charset="-122"/>
                <a:ea typeface="宋体" panose="02010600030101010101" pitchFamily="2" charset="-122"/>
                <a:cs typeface="宋体" panose="02010600030101010101" pitchFamily="2" charset="-122"/>
              </a:rPr>
              <a:t>不正确</a:t>
            </a:r>
            <a:r>
              <a:rPr lang="zh-CN" altLang="en-US" sz="2400">
                <a:latin typeface="宋体" panose="02010600030101010101" pitchFamily="2" charset="-122"/>
                <a:ea typeface="宋体" panose="02010600030101010101" pitchFamily="2" charset="-122"/>
                <a:cs typeface="宋体" panose="02010600030101010101" pitchFamily="2" charset="-122"/>
              </a:rPr>
              <a:t>的是（</a:t>
            </a:r>
            <a:r>
              <a:rPr lang="zh-CN" altLang="en-US" sz="2400">
                <a:highlight>
                  <a:srgbClr val="00FF00"/>
                </a:highlight>
                <a:latin typeface="宋体" panose="02010600030101010101" pitchFamily="2" charset="-122"/>
                <a:ea typeface="宋体" panose="02010600030101010101" pitchFamily="2" charset="-122"/>
                <a:cs typeface="宋体" panose="02010600030101010101" pitchFamily="2" charset="-122"/>
              </a:rPr>
              <a:t>单</a:t>
            </a:r>
            <a:r>
              <a:rPr lang="zh-CN" altLang="en-US" sz="2400">
                <a:latin typeface="宋体" panose="02010600030101010101" pitchFamily="2" charset="-122"/>
                <a:ea typeface="宋体" panose="02010600030101010101" pitchFamily="2" charset="-122"/>
                <a:cs typeface="宋体" panose="02010600030101010101" pitchFamily="2" charset="-122"/>
              </a:rPr>
              <a:t>选）</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A. </a:t>
            </a:r>
            <a:r>
              <a:rPr lang="zh-CN" altLang="en-US" sz="2400">
                <a:latin typeface="宋体" panose="02010600030101010101" pitchFamily="2" charset="-122"/>
                <a:ea typeface="宋体" panose="02010600030101010101" pitchFamily="2" charset="-122"/>
                <a:cs typeface="宋体" panose="02010600030101010101" pitchFamily="2" charset="-122"/>
              </a:rPr>
              <a:t>术后应尽量限制饮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量，以减少肾脏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作负荷</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B. </a:t>
            </a:r>
            <a:r>
              <a:rPr lang="zh-CN" altLang="en-US" sz="2400">
                <a:latin typeface="宋体" panose="02010600030101010101" pitchFamily="2" charset="-122"/>
                <a:ea typeface="宋体" panose="02010600030101010101" pitchFamily="2" charset="-122"/>
                <a:cs typeface="宋体" panose="02010600030101010101" pitchFamily="2" charset="-122"/>
              </a:rPr>
              <a:t>遵医嘱规律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药，并主动避免使</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可能影响肾功能的药物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C. </a:t>
            </a:r>
            <a:r>
              <a:rPr lang="zh-CN" altLang="en-US" sz="2400">
                <a:latin typeface="宋体" panose="02010600030101010101" pitchFamily="2" charset="-122"/>
                <a:ea typeface="宋体" panose="02010600030101010101" pitchFamily="2" charset="-122"/>
                <a:cs typeface="宋体" panose="02010600030101010101" pitchFamily="2" charset="-122"/>
              </a:rPr>
              <a:t>饮</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以营养</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持为主，可选择</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能量、</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蛋</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且易消化并富含维</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素的</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物</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a:latin typeface="宋体" panose="02010600030101010101" pitchFamily="2" charset="-122"/>
                <a:ea typeface="宋体" panose="02010600030101010101" pitchFamily="2" charset="-122"/>
                <a:cs typeface="宋体" panose="02010600030101010101" pitchFamily="2" charset="-122"/>
              </a:rPr>
              <a:t>D. </a:t>
            </a:r>
            <a:r>
              <a:rPr lang="zh-CN" altLang="en-US" sz="2400">
                <a:latin typeface="宋体" panose="02010600030101010101" pitchFamily="2" charset="-122"/>
                <a:ea typeface="宋体" panose="02010600030101010101" pitchFamily="2" charset="-122"/>
                <a:cs typeface="宋体" panose="02010600030101010101" pitchFamily="2" charset="-122"/>
              </a:rPr>
              <a:t>逐步恢复</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常活动并注意休息；若为肾部分切除，术后约</a:t>
            </a:r>
            <a:r>
              <a:rPr lang="en-US" altLang="zh-CN" sz="2400">
                <a:latin typeface="宋体" panose="02010600030101010101" pitchFamily="2" charset="-122"/>
                <a:ea typeface="宋体" panose="02010600030101010101" pitchFamily="2" charset="-122"/>
                <a:cs typeface="宋体" panose="02010600030101010101" pitchFamily="2" charset="-122"/>
              </a:rPr>
              <a:t>3</a:t>
            </a:r>
            <a:r>
              <a:rPr lang="zh-CN" altLang="en-US" sz="2400">
                <a:latin typeface="宋体" panose="02010600030101010101" pitchFamily="2" charset="-122"/>
                <a:ea typeface="宋体" panose="02010600030101010101" pitchFamily="2" charset="-122"/>
                <a:cs typeface="宋体" panose="02010600030101010101" pitchFamily="2" charset="-122"/>
              </a:rPr>
              <a:t>个</a:t>
            </a:r>
            <a:r>
              <a:rPr lang="en-US" altLang="en-US" sz="2400">
                <a:latin typeface="宋体" panose="02010600030101010101" pitchFamily="2" charset="-122"/>
                <a:ea typeface="宋体" panose="02010600030101010101" pitchFamily="2" charset="-122"/>
                <a:cs typeface="宋体" panose="02010600030101010101" pitchFamily="2" charset="-122"/>
              </a:rPr>
              <a:t>⽉</a:t>
            </a:r>
            <a:r>
              <a:rPr lang="zh-CN" altLang="en-US" sz="2400">
                <a:latin typeface="宋体" panose="02010600030101010101" pitchFamily="2" charset="-122"/>
                <a:ea typeface="宋体" panose="02010600030101010101" pitchFamily="2" charset="-122"/>
                <a:cs typeface="宋体" panose="02010600030101010101" pitchFamily="2" charset="-122"/>
              </a:rPr>
              <a:t>内应避免频繁弯腰、深蹲等增加腹压的动作</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泌尿外科</a:t>
            </a:r>
            <a:endParaRPr lang="zh-CN" altLang="en-US"/>
          </a:p>
        </p:txBody>
      </p:sp>
      <p:sp>
        <p:nvSpPr>
          <p:cNvPr id="3" name="内容占位符 2"/>
          <p:cNvSpPr>
            <a:spLocks noGrp="1"/>
          </p:cNvSpPr>
          <p:nvPr>
            <p:ph idx="1"/>
          </p:nvPr>
        </p:nvSpPr>
        <p:spPr/>
        <p:txBody>
          <a:bodyPr>
            <a:normAutofit lnSpcReduction="20000"/>
          </a:bodyPr>
          <a:p>
            <a:pPr fontAlgn="auto">
              <a:lnSpc>
                <a:spcPct val="120000"/>
              </a:lnSpc>
            </a:pPr>
            <a:r>
              <a:rPr lang="zh-CN" altLang="en-US">
                <a:solidFill>
                  <a:srgbClr val="FF0000"/>
                </a:solidFill>
                <a:latin typeface="黑体" panose="02010609060101010101" charset="-122"/>
                <a:ea typeface="黑体" panose="02010609060101010101" charset="-122"/>
                <a:cs typeface="黑体" panose="02010609060101010101" charset="-122"/>
              </a:rPr>
              <a:t>核心要求：我们需要做出一个</a:t>
            </a:r>
            <a:r>
              <a:rPr lang="en-US" altLang="zh-CN">
                <a:solidFill>
                  <a:srgbClr val="FF0000"/>
                </a:solidFill>
                <a:latin typeface="黑体" panose="02010609060101010101" charset="-122"/>
                <a:ea typeface="黑体" panose="02010609060101010101" charset="-122"/>
                <a:cs typeface="黑体" panose="02010609060101010101" charset="-122"/>
              </a:rPr>
              <a:t>AI</a:t>
            </a:r>
            <a:r>
              <a:rPr lang="zh-CN" altLang="en-US">
                <a:solidFill>
                  <a:srgbClr val="FF0000"/>
                </a:solidFill>
                <a:latin typeface="黑体" panose="02010609060101010101" charset="-122"/>
                <a:ea typeface="黑体" panose="02010609060101010101" charset="-122"/>
                <a:cs typeface="黑体" panose="02010609060101010101" charset="-122"/>
              </a:rPr>
              <a:t>自己的题库，即针对</a:t>
            </a:r>
            <a:r>
              <a:rPr lang="en-US" altLang="zh-CN">
                <a:solidFill>
                  <a:srgbClr val="FF0000"/>
                </a:solidFill>
                <a:latin typeface="黑体" panose="02010609060101010101" charset="-122"/>
                <a:ea typeface="黑体" panose="02010609060101010101" charset="-122"/>
                <a:cs typeface="黑体" panose="02010609060101010101" charset="-122"/>
              </a:rPr>
              <a:t>A1</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A2</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A3/4,B</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X</a:t>
            </a:r>
            <a:r>
              <a:rPr lang="zh-CN" altLang="en-US">
                <a:solidFill>
                  <a:srgbClr val="FF0000"/>
                </a:solidFill>
                <a:latin typeface="黑体" panose="02010609060101010101" charset="-122"/>
                <a:ea typeface="黑体" panose="02010609060101010101" charset="-122"/>
                <a:cs typeface="黑体" panose="02010609060101010101" charset="-122"/>
              </a:rPr>
              <a:t>以及简答题每种题型各设计出一个对应的题库，每道题目前标注对应的考点（考点库以执业医师考试为准），当我们需要生成试卷时可以按照试卷所要求的题型比例从对应题型题库按合理的考点比例提取需要的题目数量。（即抽出的题目中每个考点分数分配合理）</a:t>
            </a:r>
            <a:endParaRPr lang="en-US" altLang="zh-CN">
              <a:solidFill>
                <a:srgbClr val="FF0000"/>
              </a:solidFill>
            </a:endParaRPr>
          </a:p>
          <a:p>
            <a:pPr marL="0" indent="0">
              <a:buNone/>
            </a:pPr>
            <a:endParaRPr lang="zh-CN" altLang="en-US">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759460" y="823595"/>
            <a:ext cx="9284335" cy="55283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zh-CN" altLang="en-US"/>
              <a:t>泌尿外科</a:t>
            </a:r>
            <a:endParaRPr lang="zh-CN" altLang="en-US"/>
          </a:p>
        </p:txBody>
      </p:sp>
      <p:sp>
        <p:nvSpPr>
          <p:cNvPr id="3" name="内容占位符 2"/>
          <p:cNvSpPr>
            <a:spLocks noGrp="1"/>
          </p:cNvSpPr>
          <p:nvPr>
            <p:ph idx="1"/>
          </p:nvPr>
        </p:nvSpPr>
        <p:spPr/>
        <p:txBody>
          <a:bodyPr/>
          <a:p>
            <a:r>
              <a:rPr lang="zh-CN" altLang="en-US"/>
              <a:t>出题要求：依据给定的患者的真实病例，生成对应的题目。注意生成时可以小幅修改患者的一些基础信息如年龄生活史，如有必要也可以修改其他信息等。要求在提供有出题所需病例，想要考察的考点内容，以及出题所需的基础</a:t>
            </a:r>
            <a:r>
              <a:rPr lang="en-US" altLang="zh-CN"/>
              <a:t>prompt</a:t>
            </a:r>
            <a:r>
              <a:rPr lang="zh-CN" altLang="en-US"/>
              <a:t>描述和题库中示例题目之后由</a:t>
            </a:r>
            <a:r>
              <a:rPr lang="en-US" altLang="zh-CN"/>
              <a:t>AI</a:t>
            </a:r>
            <a:r>
              <a:rPr lang="zh-CN" altLang="en-US"/>
              <a:t>生成全新题目，全新题目需交由字符串验证确定与题库中所有已有题目均不</a:t>
            </a:r>
            <a:r>
              <a:rPr lang="zh-CN" altLang="en-US"/>
              <a:t>相似。</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修改方法参考（</a:t>
            </a:r>
            <a:r>
              <a:rPr lang="zh-CN" altLang="en-US"/>
              <a:t>泌尿）</a:t>
            </a:r>
            <a:endParaRPr lang="zh-CN" altLang="en-US"/>
          </a:p>
        </p:txBody>
      </p:sp>
      <p:sp>
        <p:nvSpPr>
          <p:cNvPr id="5" name="内容占位符 4"/>
          <p:cNvSpPr/>
          <p:nvPr>
            <p:ph idx="1"/>
          </p:nvPr>
        </p:nvSpPr>
        <p:spPr/>
        <p:txBody>
          <a:bodyPr/>
          <a:p>
            <a:r>
              <a:rPr lang="zh-CN" altLang="en-US"/>
              <a:t>尽可能保证每道修改后的</a:t>
            </a:r>
            <a:r>
              <a:rPr lang="en-US" altLang="zh-CN"/>
              <a:t>A2</a:t>
            </a:r>
            <a:r>
              <a:rPr lang="zh-CN" altLang="en-US"/>
              <a:t>，</a:t>
            </a:r>
            <a:r>
              <a:rPr lang="en-US" altLang="zh-CN"/>
              <a:t>A3</a:t>
            </a:r>
            <a:r>
              <a:rPr lang="zh-CN" altLang="en-US"/>
              <a:t>，</a:t>
            </a:r>
            <a:r>
              <a:rPr lang="en-US" altLang="zh-CN"/>
              <a:t>A4</a:t>
            </a:r>
            <a:r>
              <a:rPr lang="zh-CN" altLang="en-US"/>
              <a:t>型题患者背景能更加完整一些，即尽可能参考我们给出的模板病例的样子设计虚拟患者</a:t>
            </a:r>
            <a:r>
              <a:rPr lang="zh-CN" altLang="en-US"/>
              <a:t>背景：</a:t>
            </a:r>
            <a:endParaRPr lang="zh-CN" altLang="en-US"/>
          </a:p>
          <a:p>
            <a:r>
              <a:rPr lang="zh-CN" altLang="en-US"/>
              <a:t>要素涵盖：性别，年龄，主诉，阳性症状，阳性体征，异常的检查检验</a:t>
            </a:r>
            <a:r>
              <a:rPr lang="zh-CN" altLang="en-US"/>
              <a:t>报告。</a:t>
            </a:r>
            <a:endParaRPr lang="zh-CN" altLang="en-US"/>
          </a:p>
          <a:p>
            <a:endParaRPr lang="zh-CN" altLang="en-US"/>
          </a:p>
          <a:p>
            <a:r>
              <a:rPr lang="zh-CN" altLang="en-US"/>
              <a:t>可以酌情添加的要素（不是每道题都要出现但必须在题库的部分题目中有所体现）：诊治经过，阴性症状，阴性体征，与考点疾病类型密切相关的检验</a:t>
            </a:r>
            <a:r>
              <a:rPr lang="zh-CN" altLang="en-US"/>
              <a:t>结果。</a:t>
            </a:r>
            <a:endParaRPr lang="zh-CN" altLang="en-US"/>
          </a:p>
          <a:p>
            <a:endParaRPr lang="zh-CN" altLang="en-US"/>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4615" y="112395"/>
            <a:ext cx="10515600" cy="1325563"/>
          </a:xfrm>
        </p:spPr>
        <p:txBody>
          <a:bodyPr/>
          <a:p>
            <a:r>
              <a:rPr lang="zh-CN" altLang="en-US"/>
              <a:t>补全实例（</a:t>
            </a:r>
            <a:r>
              <a:rPr lang="en-US" altLang="zh-CN"/>
              <a:t>A1</a:t>
            </a:r>
            <a:r>
              <a:rPr lang="zh-CN" altLang="en-US"/>
              <a:t>转</a:t>
            </a:r>
            <a:r>
              <a:rPr lang="en-US" altLang="zh-CN"/>
              <a:t>A2</a:t>
            </a:r>
            <a:r>
              <a:rPr lang="zh-CN" altLang="en-US"/>
              <a:t>）</a:t>
            </a:r>
            <a:endParaRPr lang="zh-CN" altLang="en-US"/>
          </a:p>
        </p:txBody>
      </p:sp>
      <p:sp>
        <p:nvSpPr>
          <p:cNvPr id="3" name="内容占位符 2"/>
          <p:cNvSpPr>
            <a:spLocks noGrp="1"/>
          </p:cNvSpPr>
          <p:nvPr>
            <p:ph idx="1"/>
          </p:nvPr>
        </p:nvSpPr>
        <p:spPr>
          <a:xfrm>
            <a:off x="340995" y="1096645"/>
            <a:ext cx="11410315" cy="5058410"/>
          </a:xfrm>
        </p:spPr>
        <p:txBody>
          <a:bodyPr>
            <a:normAutofit lnSpcReduction="10000"/>
          </a:bodyPr>
          <a:p>
            <a:pPr marL="0" indent="0">
              <a:buNone/>
            </a:pPr>
            <a:r>
              <a:rPr lang="zh-CN" altLang="en-US" sz="1600">
                <a:latin typeface="宋体" panose="02010600030101010101" pitchFamily="2" charset="-122"/>
                <a:ea typeface="宋体" panose="02010600030101010101" pitchFamily="2" charset="-122"/>
                <a:cs typeface="宋体" panose="02010600030101010101" pitchFamily="2" charset="-122"/>
              </a:rPr>
              <a:t>原题：下列哪一项检查是诊断前列腺癌的金标准</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A. </a:t>
            </a:r>
            <a:r>
              <a:rPr lang="zh-CN" altLang="en-US" sz="1600">
                <a:latin typeface="宋体" panose="02010600030101010101" pitchFamily="2" charset="-122"/>
                <a:ea typeface="宋体" panose="02010600030101010101" pitchFamily="2" charset="-122"/>
                <a:cs typeface="宋体" panose="02010600030101010101" pitchFamily="2" charset="-122"/>
              </a:rPr>
              <a:t>前列腺穿刺活检</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B. </a:t>
            </a:r>
            <a:r>
              <a:rPr lang="zh-CN" altLang="en-US" sz="1600">
                <a:latin typeface="宋体" panose="02010600030101010101" pitchFamily="2" charset="-122"/>
                <a:ea typeface="宋体" panose="02010600030101010101" pitchFamily="2" charset="-122"/>
                <a:cs typeface="宋体" panose="02010600030101010101" pitchFamily="2" charset="-122"/>
              </a:rPr>
              <a:t>血</a:t>
            </a:r>
            <a:r>
              <a:rPr lang="en-US" altLang="zh-CN" sz="1600">
                <a:latin typeface="宋体" panose="02010600030101010101" pitchFamily="2" charset="-122"/>
                <a:ea typeface="宋体" panose="02010600030101010101" pitchFamily="2" charset="-122"/>
                <a:cs typeface="宋体" panose="02010600030101010101" pitchFamily="2" charset="-122"/>
              </a:rPr>
              <a:t>PSA</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C. </a:t>
            </a:r>
            <a:r>
              <a:rPr lang="zh-CN" altLang="en-US" sz="1600">
                <a:latin typeface="宋体" panose="02010600030101010101" pitchFamily="2" charset="-122"/>
                <a:ea typeface="宋体" panose="02010600030101010101" pitchFamily="2" charset="-122"/>
                <a:cs typeface="宋体" panose="02010600030101010101" pitchFamily="2" charset="-122"/>
              </a:rPr>
              <a:t>直肠指诊</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D. </a:t>
            </a:r>
            <a:r>
              <a:rPr lang="zh-CN" altLang="en-US" sz="1600">
                <a:latin typeface="宋体" panose="02010600030101010101" pitchFamily="2" charset="-122"/>
                <a:ea typeface="宋体" panose="02010600030101010101" pitchFamily="2" charset="-122"/>
                <a:cs typeface="宋体" panose="02010600030101010101" pitchFamily="2" charset="-122"/>
              </a:rPr>
              <a:t>前列腺</a:t>
            </a:r>
            <a:r>
              <a:rPr lang="en-US" altLang="zh-CN" sz="1600">
                <a:latin typeface="宋体" panose="02010600030101010101" pitchFamily="2" charset="-122"/>
                <a:ea typeface="宋体" panose="02010600030101010101" pitchFamily="2" charset="-122"/>
                <a:cs typeface="宋体" panose="02010600030101010101" pitchFamily="2" charset="-122"/>
              </a:rPr>
              <a:t>MRI</a:t>
            </a:r>
            <a:endParaRPr lang="en-US" altLang="zh-CN"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E. </a:t>
            </a:r>
            <a:r>
              <a:rPr lang="zh-CN" altLang="en-US" sz="1600">
                <a:latin typeface="宋体" panose="02010600030101010101" pitchFamily="2" charset="-122"/>
                <a:ea typeface="宋体" panose="02010600030101010101" pitchFamily="2" charset="-122"/>
                <a:cs typeface="宋体" panose="02010600030101010101" pitchFamily="2" charset="-122"/>
              </a:rPr>
              <a:t>前列腺</a:t>
            </a:r>
            <a:r>
              <a:rPr lang="en-US" altLang="zh-CN" sz="1600">
                <a:latin typeface="宋体" panose="02010600030101010101" pitchFamily="2" charset="-122"/>
                <a:ea typeface="宋体" panose="02010600030101010101" pitchFamily="2" charset="-122"/>
                <a:cs typeface="宋体" panose="02010600030101010101" pitchFamily="2" charset="-122"/>
              </a:rPr>
              <a:t>B</a:t>
            </a:r>
            <a:r>
              <a:rPr lang="zh-CN" altLang="en-US" sz="1600">
                <a:latin typeface="宋体" panose="02010600030101010101" pitchFamily="2" charset="-122"/>
                <a:ea typeface="宋体" panose="02010600030101010101" pitchFamily="2" charset="-122"/>
                <a:cs typeface="宋体" panose="02010600030101010101" pitchFamily="2" charset="-122"/>
              </a:rPr>
              <a:t>超</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修改：患者，</a:t>
            </a:r>
            <a:r>
              <a:rPr lang="en-US" altLang="zh-CN" sz="2000">
                <a:solidFill>
                  <a:srgbClr val="FF0000"/>
                </a:solidFill>
                <a:highlight>
                  <a:srgbClr val="FFFF00"/>
                </a:highlight>
                <a:latin typeface="宋体" panose="02010600030101010101" pitchFamily="2" charset="-122"/>
                <a:ea typeface="宋体" panose="02010600030101010101" pitchFamily="2" charset="-122"/>
                <a:cs typeface="宋体" panose="02010600030101010101" pitchFamily="2" charset="-122"/>
              </a:rPr>
              <a:t>男（性别）</a:t>
            </a:r>
            <a:r>
              <a:rPr lang="en-US" altLang="zh-CN" sz="2000">
                <a:highlight>
                  <a:srgbClr val="00FF00"/>
                </a:highlight>
                <a:latin typeface="宋体" panose="02010600030101010101" pitchFamily="2" charset="-122"/>
                <a:ea typeface="宋体" panose="02010600030101010101" pitchFamily="2" charset="-122"/>
                <a:cs typeface="宋体" panose="02010600030101010101" pitchFamily="2" charset="-122"/>
              </a:rPr>
              <a:t>，60</a:t>
            </a:r>
            <a:r>
              <a:rPr lang="en-US" altLang="zh-CN" sz="2000">
                <a:solidFill>
                  <a:schemeClr val="tx1"/>
                </a:solidFill>
                <a:highlight>
                  <a:srgbClr val="00FF00"/>
                </a:highlight>
                <a:latin typeface="宋体" panose="02010600030101010101" pitchFamily="2" charset="-122"/>
                <a:ea typeface="宋体" panose="02010600030101010101" pitchFamily="2" charset="-122"/>
                <a:cs typeface="宋体" panose="02010600030101010101" pitchFamily="2" charset="-122"/>
              </a:rPr>
              <a:t>岁（年龄）</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zh-CN" altLang="en-US" sz="2000">
                <a:solidFill>
                  <a:srgbClr val="FF0000"/>
                </a:solidFill>
                <a:highlight>
                  <a:srgbClr val="00FFFF"/>
                </a:highlight>
                <a:latin typeface="宋体" panose="02010600030101010101" pitchFamily="2" charset="-122"/>
                <a:ea typeface="宋体" panose="02010600030101010101" pitchFamily="2" charset="-122"/>
                <a:cs typeface="宋体" panose="02010600030101010101" pitchFamily="2" charset="-122"/>
              </a:rPr>
              <a:t>排尿困难</a:t>
            </a:r>
            <a:r>
              <a:rPr lang="en-US" altLang="zh-CN" sz="2000">
                <a:solidFill>
                  <a:srgbClr val="FF0000"/>
                </a:solidFill>
                <a:highlight>
                  <a:srgbClr val="00FFFF"/>
                </a:highlight>
                <a:latin typeface="宋体" panose="02010600030101010101" pitchFamily="2" charset="-122"/>
                <a:ea typeface="宋体" panose="02010600030101010101" pitchFamily="2" charset="-122"/>
                <a:cs typeface="宋体" panose="02010600030101010101" pitchFamily="2" charset="-122"/>
              </a:rPr>
              <a:t>2</a:t>
            </a:r>
            <a:r>
              <a:rPr lang="zh-CN" altLang="en-US" sz="2000">
                <a:solidFill>
                  <a:srgbClr val="FF0000"/>
                </a:solidFill>
                <a:highlight>
                  <a:srgbClr val="00FFFF"/>
                </a:highlight>
                <a:latin typeface="宋体" panose="02010600030101010101" pitchFamily="2" charset="-122"/>
                <a:ea typeface="宋体" panose="02010600030101010101" pitchFamily="2" charset="-122"/>
                <a:cs typeface="宋体" panose="02010600030101010101" pitchFamily="2" charset="-122"/>
              </a:rPr>
              <a:t>个月。</a:t>
            </a:r>
            <a:r>
              <a:rPr lang="en-US" altLang="zh-CN" sz="2000">
                <a:solidFill>
                  <a:srgbClr val="FF0000"/>
                </a:solidFill>
                <a:highlight>
                  <a:srgbClr val="00FFFF"/>
                </a:highlight>
                <a:latin typeface="宋体" panose="02010600030101010101" pitchFamily="2" charset="-122"/>
                <a:ea typeface="宋体" panose="02010600030101010101" pitchFamily="2" charset="-122"/>
                <a:cs typeface="宋体" panose="02010600030101010101" pitchFamily="2" charset="-122"/>
              </a:rPr>
              <a:t>（主诉）</a:t>
            </a:r>
            <a:r>
              <a:rPr lang="zh-CN" altLang="en-US" sz="2000">
                <a:latin typeface="宋体" panose="02010600030101010101" pitchFamily="2" charset="-122"/>
                <a:ea typeface="宋体" panose="02010600030101010101" pitchFamily="2" charset="-122"/>
                <a:cs typeface="宋体" panose="02010600030101010101" pitchFamily="2" charset="-122"/>
              </a:rPr>
              <a:t>。</a:t>
            </a:r>
            <a:r>
              <a:rPr lang="zh-CN" altLang="en-US" sz="2000">
                <a:solidFill>
                  <a:srgbClr val="FF0000"/>
                </a:solidFill>
                <a:highlight>
                  <a:srgbClr val="C0C0C0"/>
                </a:highlight>
                <a:latin typeface="宋体" panose="02010600030101010101" pitchFamily="2" charset="-122"/>
                <a:ea typeface="宋体" panose="02010600030101010101" pitchFamily="2" charset="-122"/>
                <a:cs typeface="宋体" panose="02010600030101010101" pitchFamily="2" charset="-122"/>
              </a:rPr>
              <a:t>社区医院按予以中药治疗，效果不明显（诊治经过）。</a:t>
            </a:r>
            <a:r>
              <a:rPr lang="en-US" altLang="zh-CN" sz="2000">
                <a:solidFill>
                  <a:srgbClr val="FF0000"/>
                </a:solidFill>
                <a:highlight>
                  <a:srgbClr val="FFFF00"/>
                </a:highlight>
                <a:latin typeface="宋体" panose="02010600030101010101" pitchFamily="2" charset="-122"/>
                <a:ea typeface="宋体" panose="02010600030101010101" pitchFamily="2" charset="-122"/>
                <a:cs typeface="宋体" panose="02010600030101010101" pitchFamily="2" charset="-122"/>
              </a:rPr>
              <a:t>B</a:t>
            </a:r>
            <a:r>
              <a:rPr lang="zh-CN" altLang="en-US" sz="2000">
                <a:solidFill>
                  <a:srgbClr val="FF0000"/>
                </a:solidFill>
                <a:highlight>
                  <a:srgbClr val="FFFF00"/>
                </a:highlight>
                <a:latin typeface="宋体" panose="02010600030101010101" pitchFamily="2" charset="-122"/>
                <a:ea typeface="宋体" panose="02010600030101010101" pitchFamily="2" charset="-122"/>
                <a:cs typeface="宋体" panose="02010600030101010101" pitchFamily="2" charset="-122"/>
              </a:rPr>
              <a:t>超检查见前列腺增大，血清总</a:t>
            </a:r>
            <a:r>
              <a:rPr lang="en-US" altLang="zh-CN" sz="2000">
                <a:solidFill>
                  <a:srgbClr val="FF0000"/>
                </a:solidFill>
                <a:highlight>
                  <a:srgbClr val="FFFF00"/>
                </a:highlight>
                <a:latin typeface="宋体" panose="02010600030101010101" pitchFamily="2" charset="-122"/>
                <a:ea typeface="宋体" panose="02010600030101010101" pitchFamily="2" charset="-122"/>
                <a:cs typeface="宋体" panose="02010600030101010101" pitchFamily="2" charset="-122"/>
              </a:rPr>
              <a:t>PSA24ng/ml</a:t>
            </a:r>
            <a:r>
              <a:rPr lang="zh-CN" altLang="en-US" sz="2000">
                <a:solidFill>
                  <a:srgbClr val="FF0000"/>
                </a:solidFill>
                <a:highlight>
                  <a:srgbClr val="FFFF00"/>
                </a:highlight>
                <a:latin typeface="宋体" panose="02010600030101010101" pitchFamily="2" charset="-122"/>
                <a:ea typeface="宋体" panose="02010600030101010101" pitchFamily="2" charset="-122"/>
                <a:cs typeface="宋体" panose="02010600030101010101" pitchFamily="2" charset="-122"/>
              </a:rPr>
              <a:t>。（阳性检查结果）</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，下列哪一项检查可以</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明确诊断？</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A. </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前列腺穿刺活检</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B. </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血</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PSA</a:t>
            </a:r>
            <a:endPar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C. </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直肠指诊</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D. </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前列腺</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MRI</a:t>
            </a:r>
            <a:endPar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E. </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前列腺</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B</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超</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4615" y="112395"/>
            <a:ext cx="10515600" cy="1325563"/>
          </a:xfrm>
        </p:spPr>
        <p:txBody>
          <a:bodyPr/>
          <a:p>
            <a:r>
              <a:rPr lang="zh-CN" altLang="en-US"/>
              <a:t>补全实例（病例</a:t>
            </a:r>
            <a:r>
              <a:rPr lang="zh-CN" altLang="en-US"/>
              <a:t>修改）</a:t>
            </a:r>
            <a:endParaRPr lang="zh-CN" altLang="en-US"/>
          </a:p>
        </p:txBody>
      </p:sp>
      <p:sp>
        <p:nvSpPr>
          <p:cNvPr id="3" name="内容占位符 2"/>
          <p:cNvSpPr>
            <a:spLocks noGrp="1"/>
          </p:cNvSpPr>
          <p:nvPr>
            <p:ph idx="1"/>
          </p:nvPr>
        </p:nvSpPr>
        <p:spPr>
          <a:xfrm>
            <a:off x="340995" y="1096645"/>
            <a:ext cx="11410315" cy="5058410"/>
          </a:xfrm>
        </p:spPr>
        <p:txBody>
          <a:bodyPr>
            <a:normAutofit fontScale="90000" lnSpcReduction="20000"/>
          </a:bodyPr>
          <a:p>
            <a:pPr marL="0" indent="0">
              <a:buNone/>
            </a:pPr>
            <a:r>
              <a:rPr lang="zh-CN" altLang="en-US" sz="1600">
                <a:latin typeface="宋体" panose="02010600030101010101" pitchFamily="2" charset="-122"/>
                <a:ea typeface="宋体" panose="02010600030101010101" pitchFamily="2" charset="-122"/>
                <a:cs typeface="宋体" panose="02010600030101010101" pitchFamily="2" charset="-122"/>
              </a:rPr>
              <a:t>原题：</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男（性别）</a:t>
            </a:r>
            <a:r>
              <a:rPr lang="zh-CN" altLang="en-US" sz="1600">
                <a:latin typeface="宋体" panose="02010600030101010101" pitchFamily="2" charset="-122"/>
                <a:ea typeface="宋体" panose="02010600030101010101" pitchFamily="2" charset="-122"/>
                <a:cs typeface="宋体" panose="02010600030101010101" pitchFamily="2" charset="-122"/>
              </a:rPr>
              <a:t>，</a:t>
            </a:r>
            <a:r>
              <a:rPr lang="en-US" altLang="zh-CN" sz="1600">
                <a:highlight>
                  <a:srgbClr val="00FF00"/>
                </a:highlight>
                <a:latin typeface="宋体" panose="02010600030101010101" pitchFamily="2" charset="-122"/>
                <a:ea typeface="宋体" panose="02010600030101010101" pitchFamily="2" charset="-122"/>
                <a:cs typeface="宋体" panose="02010600030101010101" pitchFamily="2" charset="-122"/>
              </a:rPr>
              <a:t>38</a:t>
            </a:r>
            <a:r>
              <a:rPr lang="zh-CN" altLang="en-US" sz="1600">
                <a:highlight>
                  <a:srgbClr val="00FF00"/>
                </a:highlight>
                <a:latin typeface="宋体" panose="02010600030101010101" pitchFamily="2" charset="-122"/>
                <a:ea typeface="宋体" panose="02010600030101010101" pitchFamily="2" charset="-122"/>
                <a:cs typeface="宋体" panose="02010600030101010101" pitchFamily="2" charset="-122"/>
              </a:rPr>
              <a:t>岁（年龄）</a:t>
            </a:r>
            <a:r>
              <a:rPr lang="zh-CN" altLang="en-US" sz="1600">
                <a:latin typeface="宋体" panose="02010600030101010101" pitchFamily="2" charset="-122"/>
                <a:ea typeface="宋体" panose="02010600030101010101" pitchFamily="2" charset="-122"/>
                <a:cs typeface="宋体" panose="02010600030101010101" pitchFamily="2" charset="-122"/>
              </a:rPr>
              <a:t>。</a:t>
            </a:r>
            <a:r>
              <a:rPr lang="zh-CN" altLang="en-US" sz="1600">
                <a:highlight>
                  <a:srgbClr val="00FFFF"/>
                </a:highlight>
                <a:latin typeface="宋体" panose="02010600030101010101" pitchFamily="2" charset="-122"/>
                <a:ea typeface="宋体" panose="02010600030101010101" pitchFamily="2" charset="-122"/>
                <a:cs typeface="宋体" panose="02010600030101010101" pitchFamily="2" charset="-122"/>
              </a:rPr>
              <a:t>会阴部不适，双侧睾丸疼痛</a:t>
            </a:r>
            <a:r>
              <a:rPr lang="en-US" altLang="zh-CN" sz="1600">
                <a:highlight>
                  <a:srgbClr val="00FFFF"/>
                </a:highlight>
                <a:latin typeface="宋体" panose="02010600030101010101" pitchFamily="2" charset="-122"/>
                <a:ea typeface="宋体" panose="02010600030101010101" pitchFamily="2" charset="-122"/>
                <a:cs typeface="宋体" panose="02010600030101010101" pitchFamily="2" charset="-122"/>
              </a:rPr>
              <a:t>1</a:t>
            </a:r>
            <a:r>
              <a:rPr lang="zh-CN" altLang="en-US" sz="1600">
                <a:highlight>
                  <a:srgbClr val="00FFFF"/>
                </a:highlight>
                <a:latin typeface="宋体" panose="02010600030101010101" pitchFamily="2" charset="-122"/>
                <a:ea typeface="宋体" panose="02010600030101010101" pitchFamily="2" charset="-122"/>
                <a:cs typeface="宋体" panose="02010600030101010101" pitchFamily="2" charset="-122"/>
              </a:rPr>
              <a:t>年。（主诉）</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社区医院按</a:t>
            </a:r>
            <a:r>
              <a:rPr lang="en-US" altLang="zh-CN" sz="1600">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前列腺炎</a:t>
            </a:r>
            <a:r>
              <a:rPr lang="en-US" altLang="zh-CN" sz="1600">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治疗，效果不明显。</a:t>
            </a:r>
            <a:endPar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（诊治经过）</a:t>
            </a:r>
            <a:r>
              <a:rPr lang="zh-CN" altLang="en-US" sz="1600">
                <a:highlight>
                  <a:srgbClr val="00FF00"/>
                </a:highlight>
                <a:latin typeface="宋体" panose="02010600030101010101" pitchFamily="2" charset="-122"/>
                <a:ea typeface="宋体" panose="02010600030101010101" pitchFamily="2" charset="-122"/>
                <a:cs typeface="宋体" panose="02010600030101010101" pitchFamily="2" charset="-122"/>
              </a:rPr>
              <a:t>近期症状加重，出现血精。（病情变化）</a:t>
            </a:r>
            <a:r>
              <a:rPr lang="zh-CN" altLang="en-US" sz="1600">
                <a:highlight>
                  <a:srgbClr val="00FFFF"/>
                </a:highlight>
                <a:latin typeface="宋体" panose="02010600030101010101" pitchFamily="2" charset="-122"/>
                <a:ea typeface="宋体" panose="02010600030101010101" pitchFamily="2" charset="-122"/>
                <a:cs typeface="宋体" panose="02010600030101010101" pitchFamily="2" charset="-122"/>
              </a:rPr>
              <a:t>查体：睾丸正常（阴性但相关体征），</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左侧附睾尾部肿大，质地偏硬，</a:t>
            </a:r>
            <a:endPar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左输精管增粗，呈</a:t>
            </a:r>
            <a:r>
              <a:rPr lang="en-US" altLang="zh-CN" sz="1600">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串珠状</a:t>
            </a:r>
            <a:r>
              <a:rPr lang="en-US" altLang="zh-CN" sz="1600">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600">
                <a:highlight>
                  <a:srgbClr val="FFFF00"/>
                </a:highlight>
                <a:latin typeface="宋体" panose="02010600030101010101" pitchFamily="2" charset="-122"/>
                <a:ea typeface="宋体" panose="02010600030101010101" pitchFamily="2" charset="-122"/>
                <a:cs typeface="宋体" panose="02010600030101010101" pitchFamily="2" charset="-122"/>
              </a:rPr>
              <a:t>改变。（阳性体征）</a:t>
            </a:r>
            <a:r>
              <a:rPr lang="zh-CN" altLang="en-US" sz="1600">
                <a:highlight>
                  <a:srgbClr val="00FF00"/>
                </a:highlight>
                <a:latin typeface="宋体" panose="02010600030101010101" pitchFamily="2" charset="-122"/>
                <a:ea typeface="宋体" panose="02010600030101010101" pitchFamily="2" charset="-122"/>
                <a:cs typeface="宋体" panose="02010600030101010101" pitchFamily="2" charset="-122"/>
              </a:rPr>
              <a:t>直肠指检前列腺略大，有大小不等的结节，无压痛。（干扰）</a:t>
            </a:r>
            <a:r>
              <a:rPr lang="zh-CN" altLang="en-US" sz="1600">
                <a:latin typeface="宋体" panose="02010600030101010101" pitchFamily="2" charset="-122"/>
                <a:ea typeface="宋体" panose="02010600030101010101" pitchFamily="2" charset="-122"/>
                <a:cs typeface="宋体" panose="02010600030101010101" pitchFamily="2" charset="-122"/>
              </a:rPr>
              <a:t>为协助诊断，需补充的最里要的病史是</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A.</a:t>
            </a:r>
            <a:r>
              <a:rPr lang="zh-CN" altLang="en-US" sz="1600">
                <a:latin typeface="宋体" panose="02010600030101010101" pitchFamily="2" charset="-122"/>
                <a:ea typeface="宋体" panose="02010600030101010101" pitchFamily="2" charset="-122"/>
                <a:cs typeface="宋体" panose="02010600030101010101" pitchFamily="2" charset="-122"/>
              </a:rPr>
              <a:t>不洁性生活史</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B.</a:t>
            </a:r>
            <a:r>
              <a:rPr lang="zh-CN" altLang="en-US" sz="1600">
                <a:latin typeface="宋体" panose="02010600030101010101" pitchFamily="2" charset="-122"/>
                <a:ea typeface="宋体" panose="02010600030101010101" pitchFamily="2" charset="-122"/>
                <a:cs typeface="宋体" panose="02010600030101010101" pitchFamily="2" charset="-122"/>
              </a:rPr>
              <a:t>泌尿系感染史</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C.</a:t>
            </a:r>
            <a:r>
              <a:rPr lang="zh-CN" altLang="en-US" sz="1600">
                <a:latin typeface="宋体" panose="02010600030101010101" pitchFamily="2" charset="-122"/>
                <a:ea typeface="宋体" panose="02010600030101010101" pitchFamily="2" charset="-122"/>
                <a:cs typeface="宋体" panose="02010600030101010101" pitchFamily="2" charset="-122"/>
              </a:rPr>
              <a:t>附睾炎病史</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D.</a:t>
            </a:r>
            <a:r>
              <a:rPr lang="zh-CN" altLang="en-US" sz="1600">
                <a:latin typeface="宋体" panose="02010600030101010101" pitchFamily="2" charset="-122"/>
                <a:ea typeface="宋体" panose="02010600030101010101" pitchFamily="2" charset="-122"/>
                <a:cs typeface="宋体" panose="02010600030101010101" pitchFamily="2" charset="-122"/>
              </a:rPr>
              <a:t>睾丸炎病史</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1600">
                <a:latin typeface="宋体" panose="02010600030101010101" pitchFamily="2" charset="-122"/>
                <a:ea typeface="宋体" panose="02010600030101010101" pitchFamily="2" charset="-122"/>
                <a:cs typeface="宋体" panose="02010600030101010101" pitchFamily="2" charset="-122"/>
              </a:rPr>
              <a:t>E.</a:t>
            </a:r>
            <a:r>
              <a:rPr lang="zh-CN" altLang="en-US" sz="1600">
                <a:latin typeface="宋体" panose="02010600030101010101" pitchFamily="2" charset="-122"/>
                <a:ea typeface="宋体" panose="02010600030101010101" pitchFamily="2" charset="-122"/>
                <a:cs typeface="宋体" panose="02010600030101010101" pitchFamily="2" charset="-122"/>
              </a:rPr>
              <a:t>结核病史</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latin typeface="宋体" panose="02010600030101010101" pitchFamily="2" charset="-122"/>
                <a:ea typeface="宋体" panose="02010600030101010101" pitchFamily="2" charset="-122"/>
                <a:cs typeface="宋体" panose="02010600030101010101" pitchFamily="2" charset="-122"/>
              </a:rPr>
              <a:t>修改：</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男，</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33</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岁</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。主诉会阴部不适，双侧睾丸疼痛</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3</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年</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社区医院予以抗炎止痛等对症治疗</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，效果不明显。近期症状加重，出现血精。查体：睾丸正常，左侧附睾尾部肿大，质地偏硬，左输精管增粗，呈</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串珠状</a:t>
            </a: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改变。直肠指检前列腺略大，有大小不等的结节，无压痛。</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辅助检查：</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ESR</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50mm/h</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，中性粒细胞百分比</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 (NEUT%)</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75.2%</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000">
                <a:solidFill>
                  <a:srgbClr val="FF0000"/>
                </a:solidFill>
                <a:latin typeface="宋体" panose="02010600030101010101" pitchFamily="2" charset="-122"/>
                <a:ea typeface="宋体" panose="02010600030101010101" pitchFamily="2" charset="-122"/>
                <a:cs typeface="宋体" panose="02010600030101010101" pitchFamily="2" charset="-122"/>
              </a:rPr>
              <a:t>PPD</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试验强阳性。</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为协助诊断，需补充的最里要的病史是</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A.</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不洁性生活史</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B.</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泌尿系感染史</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C.</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附睾炎病史</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D.</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睾丸炎病史</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000">
                <a:solidFill>
                  <a:schemeClr val="tx1"/>
                </a:solidFill>
                <a:latin typeface="宋体" panose="02010600030101010101" pitchFamily="2" charset="-122"/>
                <a:ea typeface="宋体" panose="02010600030101010101" pitchFamily="2" charset="-122"/>
                <a:cs typeface="宋体" panose="02010600030101010101" pitchFamily="2" charset="-122"/>
              </a:rPr>
              <a:t>E.</a:t>
            </a: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结核病史</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zh-CN" altLang="en-US"/>
            </a:br>
            <a:r>
              <a:rPr lang="zh-CN" altLang="en-US"/>
              <a:t>质量把控机制（考题质量、耗时及可靠性是三个重要比较指标）</a:t>
            </a:r>
            <a:br>
              <a:rPr lang="zh-CN" altLang="en-US"/>
            </a:br>
            <a:endParaRPr lang="zh-CN" altLang="en-US"/>
          </a:p>
        </p:txBody>
      </p:sp>
      <p:sp>
        <p:nvSpPr>
          <p:cNvPr id="3" name="内容占位符 2"/>
          <p:cNvSpPr>
            <a:spLocks noGrp="1"/>
          </p:cNvSpPr>
          <p:nvPr>
            <p:ph idx="1"/>
          </p:nvPr>
        </p:nvSpPr>
        <p:spPr/>
        <p:txBody>
          <a:bodyPr>
            <a:normAutofit fontScale="90000" lnSpcReduction="20000"/>
          </a:bodyPr>
          <a:p>
            <a:pPr marL="0" indent="0">
              <a:buNone/>
            </a:pPr>
            <a:r>
              <a:rPr lang="zh-CN" altLang="en-US">
                <a:solidFill>
                  <a:srgbClr val="FF0000"/>
                </a:solidFill>
                <a:highlight>
                  <a:srgbClr val="FFFF00"/>
                </a:highlight>
              </a:rPr>
              <a:t>记录出题所需的时间！</a:t>
            </a:r>
            <a:endParaRPr lang="en-US" altLang="zh-CN">
              <a:solidFill>
                <a:srgbClr val="FF0000"/>
              </a:solidFill>
              <a:highlight>
                <a:srgbClr val="FFFF00"/>
              </a:highlight>
            </a:endParaRPr>
          </a:p>
          <a:p>
            <a:pPr marL="0" indent="0">
              <a:buNone/>
            </a:pPr>
            <a:r>
              <a:rPr lang="en-US" altLang="zh-CN"/>
              <a:t>1. </a:t>
            </a:r>
            <a:r>
              <a:rPr lang="zh-CN" altLang="en-US"/>
              <a:t>机器</a:t>
            </a:r>
            <a:r>
              <a:rPr lang="zh-CN" altLang="en-US"/>
              <a:t>初审：</a:t>
            </a:r>
            <a:endParaRPr lang="zh-CN" altLang="en-US"/>
          </a:p>
          <a:p>
            <a:pPr marL="0" indent="0">
              <a:buNone/>
            </a:pPr>
            <a:r>
              <a:rPr lang="zh-CN" altLang="en-US"/>
              <a:t>工具：</a:t>
            </a:r>
            <a:r>
              <a:rPr lang="en-US" altLang="zh-CN"/>
              <a:t>Python (FuzzyWuzzy </a:t>
            </a:r>
            <a:r>
              <a:rPr lang="zh-CN" altLang="en-US"/>
              <a:t>库</a:t>
            </a:r>
            <a:r>
              <a:rPr lang="en-US" altLang="zh-CN"/>
              <a:t>)</a:t>
            </a:r>
            <a:endParaRPr lang="en-US" altLang="zh-CN"/>
          </a:p>
          <a:p>
            <a:pPr marL="0" indent="0">
              <a:buNone/>
            </a:pPr>
            <a:r>
              <a:rPr lang="zh-CN" altLang="en-US"/>
              <a:t>方法：计算</a:t>
            </a:r>
            <a:r>
              <a:rPr lang="en-US" altLang="zh-CN"/>
              <a:t> Levenshtein </a:t>
            </a:r>
            <a:r>
              <a:rPr lang="zh-CN" altLang="en-US"/>
              <a:t>距离</a:t>
            </a:r>
            <a:r>
              <a:rPr lang="en-US" altLang="zh-CN"/>
              <a:t> (</a:t>
            </a:r>
            <a:r>
              <a:rPr lang="zh-CN" altLang="en-US"/>
              <a:t>字符串相似度</a:t>
            </a:r>
            <a:r>
              <a:rPr lang="en-US" altLang="zh-CN"/>
              <a:t>)</a:t>
            </a:r>
            <a:endParaRPr lang="en-US" altLang="zh-CN"/>
          </a:p>
          <a:p>
            <a:pPr marL="0" indent="0">
              <a:buNone/>
            </a:pPr>
            <a:r>
              <a:rPr lang="zh-CN" altLang="en-US"/>
              <a:t>标准：相似度过高</a:t>
            </a:r>
            <a:r>
              <a:rPr lang="en-US" altLang="zh-CN"/>
              <a:t> (&gt;80%) </a:t>
            </a:r>
            <a:r>
              <a:rPr lang="zh-CN" altLang="en-US"/>
              <a:t>视为抄袭，需重出</a:t>
            </a:r>
            <a:endParaRPr lang="zh-CN" altLang="en-US"/>
          </a:p>
          <a:p>
            <a:pPr marL="0" indent="0">
              <a:buNone/>
            </a:pPr>
            <a:endParaRPr lang="zh-CN" altLang="en-US"/>
          </a:p>
          <a:p>
            <a:pPr marL="0" indent="0">
              <a:buNone/>
            </a:pPr>
            <a:r>
              <a:rPr lang="zh-CN" altLang="en-US"/>
              <a:t>工具：</a:t>
            </a:r>
            <a:r>
              <a:rPr lang="en-US" altLang="zh-CN"/>
              <a:t>Sentence-BERT </a:t>
            </a:r>
            <a:r>
              <a:rPr lang="zh-CN" altLang="en-US"/>
              <a:t>或其他向量模型</a:t>
            </a:r>
            <a:endParaRPr lang="zh-CN" altLang="en-US"/>
          </a:p>
          <a:p>
            <a:pPr marL="0" indent="0">
              <a:buNone/>
            </a:pPr>
            <a:r>
              <a:rPr lang="zh-CN" altLang="en-US"/>
              <a:t>方法：研究者通常使用</a:t>
            </a:r>
            <a:r>
              <a:rPr lang="en-US" altLang="zh-CN"/>
              <a:t> Sentence-BERT </a:t>
            </a:r>
            <a:r>
              <a:rPr lang="zh-CN" altLang="en-US"/>
              <a:t>或其他向量模型将医学题目转化为</a:t>
            </a:r>
            <a:r>
              <a:rPr lang="en-US" altLang="zh-CN"/>
              <a:t> Embedding</a:t>
            </a:r>
            <a:r>
              <a:rPr lang="zh-CN" altLang="en-US"/>
              <a:t>。通过计算</a:t>
            </a:r>
            <a:r>
              <a:rPr lang="en-US" altLang="zh-CN"/>
              <a:t> Cosine Similarity </a:t>
            </a:r>
            <a:r>
              <a:rPr lang="zh-CN" altLang="en-US"/>
              <a:t>（余弦相似</a:t>
            </a:r>
            <a:r>
              <a:rPr lang="zh-CN" altLang="en-US"/>
              <a:t>性）</a:t>
            </a:r>
            <a:endParaRPr lang="zh-CN" altLang="en-US"/>
          </a:p>
          <a:p>
            <a:pPr marL="0" indent="0">
              <a:buNone/>
            </a:pPr>
            <a:r>
              <a:rPr lang="zh-CN" altLang="en-US"/>
              <a:t>标准：相似度过高（</a:t>
            </a:r>
            <a:r>
              <a:rPr lang="en-US" altLang="zh-CN"/>
              <a:t>&gt;0.9</a:t>
            </a:r>
            <a:r>
              <a:rPr lang="zh-CN" altLang="en-US"/>
              <a:t>）视为抄袭，需重出</a:t>
            </a:r>
            <a:br>
              <a:rPr lang="zh-CN" altLang="en-US"/>
            </a:b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工具：</a:t>
            </a:r>
            <a:r>
              <a:rPr lang="en-US" altLang="zh-CN"/>
              <a:t> n-gram </a:t>
            </a:r>
            <a:r>
              <a:rPr lang="zh-CN" altLang="en-US"/>
              <a:t>重叠度分析</a:t>
            </a:r>
            <a:r>
              <a:rPr lang="en-US" altLang="zh-CN"/>
              <a:t> </a:t>
            </a:r>
            <a:r>
              <a:rPr lang="zh-CN" altLang="en-US"/>
              <a:t>和</a:t>
            </a:r>
            <a:r>
              <a:rPr lang="en-US" altLang="zh-CN"/>
              <a:t> Jaccard Index</a:t>
            </a:r>
            <a:endParaRPr lang="en-US" altLang="zh-CN"/>
          </a:p>
          <a:p>
            <a:r>
              <a:rPr lang="zh-CN" altLang="en-US"/>
              <a:t>方法：对比新题与公开题库的字词重合率。</a:t>
            </a:r>
            <a:endParaRPr lang="zh-CN" altLang="en-US"/>
          </a:p>
          <a:p>
            <a:r>
              <a:rPr lang="zh-CN" altLang="en-US"/>
              <a:t>标准：若</a:t>
            </a:r>
            <a:r>
              <a:rPr lang="en-US" altLang="zh-CN"/>
              <a:t> Jaccard </a:t>
            </a:r>
            <a:r>
              <a:rPr lang="zh-CN" altLang="en-US"/>
              <a:t>系数超过特定比例（如</a:t>
            </a:r>
            <a:r>
              <a:rPr lang="en-US" altLang="zh-CN"/>
              <a:t> 0.8</a:t>
            </a:r>
            <a:r>
              <a:rPr lang="zh-CN" altLang="en-US"/>
              <a:t>），则认为题目不具备独立测试效度。</a:t>
            </a:r>
            <a:endParaRPr lang="zh-CN" altLang="en-US"/>
          </a:p>
          <a:p>
            <a:endParaRPr lang="zh-CN" altLang="en-US"/>
          </a:p>
          <a:p>
            <a:r>
              <a:rPr lang="zh-CN" altLang="en-US"/>
              <a:t>工具：</a:t>
            </a:r>
            <a:r>
              <a:rPr lang="en-US" altLang="zh-CN"/>
              <a:t>Python</a:t>
            </a:r>
            <a:r>
              <a:rPr lang="zh-CN" altLang="en-US"/>
              <a:t>中的</a:t>
            </a:r>
            <a:r>
              <a:rPr lang="en-US" altLang="zh-CN"/>
              <a:t>textstat</a:t>
            </a:r>
            <a:r>
              <a:rPr lang="zh-CN" altLang="en-US"/>
              <a:t>库</a:t>
            </a:r>
            <a:endParaRPr lang="zh-CN" altLang="en-US"/>
          </a:p>
          <a:p>
            <a:r>
              <a:rPr lang="zh-CN" altLang="en-US"/>
              <a:t>方法：计算弗莱施阅读易度指标（</a:t>
            </a:r>
            <a:r>
              <a:rPr lang="en-US" altLang="zh-CN"/>
              <a:t>Flesch Reading Ease</a:t>
            </a:r>
            <a:r>
              <a:rPr lang="zh-CN" altLang="en-US"/>
              <a:t>）。</a:t>
            </a:r>
            <a:endParaRPr lang="zh-CN" altLang="en-US"/>
          </a:p>
          <a:p>
            <a:r>
              <a:rPr lang="zh-CN" altLang="en-US"/>
              <a:t>标准：若低于</a:t>
            </a:r>
            <a:r>
              <a:rPr lang="en-US" altLang="zh-CN"/>
              <a:t>30</a:t>
            </a:r>
            <a:r>
              <a:rPr lang="zh-CN" altLang="en-US"/>
              <a:t>分，则题目过于</a:t>
            </a:r>
            <a:r>
              <a:rPr lang="zh-CN" altLang="en-US"/>
              <a:t>晦涩难懂</a:t>
            </a:r>
            <a:endParaRPr lang="zh-CN" altLang="en-US"/>
          </a:p>
          <a:p>
            <a:endParaRPr lang="zh-CN" altLang="en-US"/>
          </a:p>
          <a:p>
            <a:endParaRPr lang="zh-CN" altLang="en-US"/>
          </a:p>
          <a:p>
            <a:endParaRPr lang="zh-CN" altLang="en-US"/>
          </a:p>
          <a:p>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可能的拓展：是否可以利用一系列经过训练的大语言模型，来对我们产出的试卷以及人工试卷进行李克特五点评分法（</a:t>
            </a:r>
            <a:r>
              <a:rPr lang="en-US" altLang="zh-CN"/>
              <a:t>1</a:t>
            </a:r>
            <a:r>
              <a:rPr lang="zh-CN" altLang="en-US"/>
              <a:t>）适当性（技术和语法正确性、结构性和整体构建）；（</a:t>
            </a:r>
            <a:r>
              <a:rPr lang="en-US" altLang="zh-CN"/>
              <a:t>2</a:t>
            </a:r>
            <a:r>
              <a:rPr lang="zh-CN" altLang="en-US"/>
              <a:t>）清晰度和特异性（无歧义性和信息充分性）；（</a:t>
            </a:r>
            <a:r>
              <a:rPr lang="en-US" altLang="zh-CN"/>
              <a:t>3</a:t>
            </a:r>
            <a:r>
              <a:rPr lang="zh-CN" altLang="en-US"/>
              <a:t>）相关性（与临床实践和背景的一致性）；（</a:t>
            </a:r>
            <a:r>
              <a:rPr lang="en-US" altLang="zh-CN"/>
              <a:t>4</a:t>
            </a:r>
            <a:r>
              <a:rPr lang="zh-CN" altLang="en-US"/>
              <a:t>）区分度（正确答案从看似合理的干扰项中脱颖而出的能力）；（</a:t>
            </a:r>
            <a:r>
              <a:rPr lang="en-US" altLang="zh-CN"/>
              <a:t>5</a:t>
            </a:r>
            <a:r>
              <a:rPr lang="zh-CN" altLang="en-US"/>
              <a:t>）对实习生的适用性（与布鲁姆分类学的一致性以及评估高阶认知技能的能力）。来评判试卷的质量？</a:t>
            </a:r>
            <a:endParaRPr lang="zh-CN" altLang="en-US"/>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2. </a:t>
            </a:r>
            <a:r>
              <a:rPr lang="zh-CN" altLang="en-US"/>
              <a:t>专家复审</a:t>
            </a:r>
            <a:r>
              <a:rPr lang="en-US" altLang="zh-CN"/>
              <a:t> (</a:t>
            </a:r>
            <a:r>
              <a:rPr lang="zh-CN" altLang="en-US"/>
              <a:t>金标准</a:t>
            </a:r>
            <a:r>
              <a:rPr lang="en-US" altLang="zh-CN"/>
              <a:t>)</a:t>
            </a:r>
            <a:endParaRPr lang="en-US" altLang="zh-CN"/>
          </a:p>
          <a:p>
            <a:r>
              <a:rPr lang="en-US" altLang="zh-CN"/>
              <a:t>   </a:t>
            </a:r>
            <a:r>
              <a:rPr lang="zh-CN" altLang="en-US"/>
              <a:t>方法：将</a:t>
            </a:r>
            <a:r>
              <a:rPr lang="en-US" altLang="zh-CN"/>
              <a:t> AI </a:t>
            </a:r>
            <a:r>
              <a:rPr lang="zh-CN" altLang="en-US"/>
              <a:t>题目与题库真题混合</a:t>
            </a:r>
            <a:endParaRPr lang="zh-CN" altLang="en-US"/>
          </a:p>
          <a:p>
            <a:r>
              <a:rPr lang="en-US" altLang="zh-CN"/>
              <a:t>   </a:t>
            </a:r>
            <a:r>
              <a:rPr lang="zh-CN" altLang="en-US"/>
              <a:t>流程：盲审评定医学逻辑准确性</a:t>
            </a:r>
            <a:endParaRPr lang="zh-CN" altLang="en-US"/>
          </a:p>
          <a:p>
            <a:endParaRPr lang="zh-CN" altLang="en-US"/>
          </a:p>
          <a:p>
            <a:r>
              <a:rPr lang="zh-CN" altLang="en-US"/>
              <a:t>标准：李克特五点评分，具体交由我们专家</a:t>
            </a:r>
            <a:r>
              <a:rPr lang="zh-CN" altLang="en-US"/>
              <a:t>完成</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2817</Words>
  <Application>WPS 演示</Application>
  <PresentationFormat>宽屏</PresentationFormat>
  <Paragraphs>125</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宋体</vt:lpstr>
      <vt:lpstr>Wingdings</vt:lpstr>
      <vt:lpstr>Calibri</vt:lpstr>
      <vt:lpstr>微软雅黑</vt:lpstr>
      <vt:lpstr>Arial Unicode MS</vt:lpstr>
      <vt:lpstr>黑体</vt:lpstr>
      <vt:lpstr>华文宋体</vt:lpstr>
      <vt:lpstr>WPS</vt:lpstr>
      <vt:lpstr>AI 辅助医学出题技巧与实战规范</vt:lpstr>
      <vt:lpstr>几种修改方法参考</vt:lpstr>
      <vt:lpstr>第一：增加</vt:lpstr>
      <vt:lpstr>第一：增加</vt:lpstr>
      <vt:lpstr>第二：将选项替换为全新的有迷惑性的选项</vt:lpstr>
      <vt:lpstr>第一：增加内容</vt:lpstr>
      <vt:lpstr>四、泌尿外科</vt:lpstr>
      <vt:lpstr>PowerPoint 演示文稿</vt:lpstr>
      <vt:lpstr>四、泌尿外科</vt:lpstr>
      <vt:lpstr>几种修改方法参考（护理）</vt:lpstr>
      <vt:lpstr>第一：增加内容</vt:lpstr>
      <vt:lpstr>补全实例（A1转A2）</vt:lpstr>
      <vt:lpstr>五、质量把控机制（0218版）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yalong chen</dc:creator>
  <cp:lastModifiedBy>陈亚龙</cp:lastModifiedBy>
  <cp:revision>38</cp:revision>
  <dcterms:created xsi:type="dcterms:W3CDTF">2023-08-09T12:44:00Z</dcterms:created>
  <dcterms:modified xsi:type="dcterms:W3CDTF">2026-02-25T07:42:24Z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AA08B7C680284142B698735E9D812D63_12</vt:lpwstr>
  </property>
</Properties>
</file>