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306" r:id="rId3"/>
    <p:sldId id="307" r:id="rId4"/>
    <p:sldId id="308" r:id="rId5"/>
    <p:sldId id="309" r:id="rId6"/>
    <p:sldId id="310" r:id="rId7"/>
    <p:sldId id="312" r:id="rId8"/>
    <p:sldId id="313" r:id="rId9"/>
    <p:sldId id="314" r:id="rId10"/>
    <p:sldId id="315" r:id="rId11"/>
    <p:sldId id="321" r:id="rId12"/>
    <p:sldId id="323" r:id="rId13"/>
    <p:sldId id="322" r:id="rId14"/>
    <p:sldId id="316" r:id="rId15"/>
    <p:sldId id="317"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en-US"/>
              <a:t>AI </a:t>
            </a:r>
            <a:r>
              <a:rPr lang="zh-CN" altLang="en-US"/>
              <a:t>辅助医学出题技巧与实战规范</a:t>
            </a:r>
            <a:endParaRPr lang="zh-CN" altLang="en-US"/>
          </a:p>
        </p:txBody>
      </p:sp>
      <p:sp>
        <p:nvSpPr>
          <p:cNvPr id="3" name="副标题 2"/>
          <p:cNvSpPr>
            <a:spLocks noGrp="1"/>
          </p:cNvSpPr>
          <p:nvPr>
            <p:ph type="subTitle" idx="1"/>
          </p:nvPr>
        </p:nvSpPr>
        <p:spPr/>
        <p:txBody>
          <a:bodyPr/>
          <a:p>
            <a:r>
              <a:rPr lang="zh-CN" altLang="en-US"/>
              <a:t>副标题：从</a:t>
            </a:r>
            <a:r>
              <a:rPr lang="en-US" altLang="zh-CN"/>
              <a:t> Prompt </a:t>
            </a:r>
            <a:r>
              <a:rPr lang="zh-CN" altLang="en-US"/>
              <a:t>设计到题型转换的深度解析</a:t>
            </a:r>
            <a:endParaRPr lang="en-US" altLang="zh-CN"/>
          </a:p>
          <a:p>
            <a:r>
              <a:rPr lang="zh-CN" altLang="zh-CN"/>
              <a:t>陈亚龙</a:t>
            </a:r>
            <a:endParaRPr lang="zh-CN"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目录</a:t>
            </a:r>
            <a:endParaRPr lang="zh-CN" altLang="en-US"/>
          </a:p>
        </p:txBody>
      </p:sp>
      <p:sp>
        <p:nvSpPr>
          <p:cNvPr id="3" name="内容占位符 2"/>
          <p:cNvSpPr>
            <a:spLocks noGrp="1"/>
          </p:cNvSpPr>
          <p:nvPr>
            <p:ph idx="1"/>
          </p:nvPr>
        </p:nvSpPr>
        <p:spPr/>
        <p:txBody>
          <a:bodyPr/>
          <a:p>
            <a:r>
              <a:rPr lang="en-US" altLang="en-US"/>
              <a:t>1. </a:t>
            </a:r>
            <a:r>
              <a:rPr lang="zh-CN" altLang="en-US"/>
              <a:t>出题总览：</a:t>
            </a:r>
            <a:r>
              <a:rPr lang="en-US" altLang="zh-CN"/>
              <a:t>AI </a:t>
            </a:r>
            <a:r>
              <a:rPr lang="zh-CN" altLang="en-US"/>
              <a:t>出题的核心逻辑与流程</a:t>
            </a:r>
            <a:endParaRPr lang="en-US" altLang="zh-CN"/>
          </a:p>
          <a:p>
            <a:r>
              <a:rPr lang="en-US" altLang="zh-CN"/>
              <a:t>2. </a:t>
            </a:r>
            <a:r>
              <a:rPr lang="zh-CN" altLang="en-US"/>
              <a:t>通用</a:t>
            </a:r>
            <a:r>
              <a:rPr lang="en-US" altLang="zh-CN"/>
              <a:t> Prompt</a:t>
            </a:r>
            <a:r>
              <a:rPr lang="zh-CN" altLang="en-US"/>
              <a:t>：如何设计指令让</a:t>
            </a:r>
            <a:r>
              <a:rPr lang="en-US" altLang="zh-CN"/>
              <a:t> AI </a:t>
            </a:r>
            <a:r>
              <a:rPr lang="zh-CN" altLang="en-US"/>
              <a:t>听懂</a:t>
            </a:r>
            <a:endParaRPr lang="en-US" altLang="zh-CN"/>
          </a:p>
          <a:p>
            <a:r>
              <a:rPr lang="en-US" altLang="zh-CN"/>
              <a:t>3. </a:t>
            </a:r>
            <a:r>
              <a:rPr lang="zh-CN" altLang="en-US"/>
              <a:t>分科策略：护理、</a:t>
            </a:r>
            <a:r>
              <a:rPr lang="en-US" altLang="zh-CN"/>
              <a:t>ICU</a:t>
            </a:r>
            <a:r>
              <a:rPr lang="zh-CN" altLang="en-US"/>
              <a:t>、泌尿外科的差异化打法</a:t>
            </a:r>
            <a:endParaRPr lang="en-US" altLang="zh-CN"/>
          </a:p>
          <a:p>
            <a:r>
              <a:rPr lang="en-US" altLang="zh-CN"/>
              <a:t>4. </a:t>
            </a:r>
            <a:r>
              <a:rPr lang="zh-CN" altLang="en-US"/>
              <a:t>高阶技巧：题型转换与病例改编实战</a:t>
            </a:r>
            <a:endParaRPr lang="en-US" altLang="zh-CN"/>
          </a:p>
          <a:p>
            <a:r>
              <a:rPr lang="en-US" altLang="zh-CN"/>
              <a:t>5. </a:t>
            </a:r>
            <a:r>
              <a:rPr lang="zh-CN" altLang="en-US"/>
              <a:t>质量把控：查重与审核机制</a:t>
            </a:r>
            <a:endParaRPr lang="en-US" altLang="zh-CN"/>
          </a:p>
          <a:p>
            <a:r>
              <a:rPr lang="en-US" altLang="zh-CN"/>
              <a:t>6. </a:t>
            </a:r>
            <a:r>
              <a:rPr lang="zh-CN" altLang="en-US"/>
              <a:t>总结与答疑</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一、出题总览：核心逻辑</a:t>
            </a:r>
            <a:endParaRPr lang="zh-CN" altLang="en-US"/>
          </a:p>
        </p:txBody>
      </p:sp>
      <p:sp>
        <p:nvSpPr>
          <p:cNvPr id="3" name="内容占位符 2"/>
          <p:cNvSpPr>
            <a:spLocks noGrp="1"/>
          </p:cNvSpPr>
          <p:nvPr>
            <p:ph idx="1"/>
          </p:nvPr>
        </p:nvSpPr>
        <p:spPr/>
        <p:txBody>
          <a:bodyPr/>
          <a:p>
            <a:r>
              <a:rPr lang="zh-CN" altLang="en-US"/>
              <a:t>核心目标：高效产出高质量、符合考纲的医学题目</a:t>
            </a:r>
            <a:endParaRPr lang="en-US" altLang="zh-CN"/>
          </a:p>
          <a:p>
            <a:r>
              <a:rPr lang="zh-CN" altLang="zh-CN"/>
              <a:t>标准工作流：</a:t>
            </a:r>
            <a:endParaRPr lang="en-US" altLang="zh-CN"/>
          </a:p>
          <a:p>
            <a:r>
              <a:rPr lang="en-US" altLang="zh-CN"/>
              <a:t>   1. </a:t>
            </a:r>
            <a:r>
              <a:rPr lang="zh-CN" altLang="en-US"/>
              <a:t>明确考纲</a:t>
            </a:r>
            <a:r>
              <a:rPr lang="en-US" altLang="zh-CN"/>
              <a:t>/</a:t>
            </a:r>
            <a:r>
              <a:rPr lang="zh-CN" altLang="en-US"/>
              <a:t>考点</a:t>
            </a:r>
            <a:endParaRPr lang="en-US" altLang="zh-CN"/>
          </a:p>
          <a:p>
            <a:r>
              <a:rPr lang="en-US" altLang="zh-CN"/>
              <a:t>   2. </a:t>
            </a:r>
            <a:r>
              <a:rPr lang="zh-CN" altLang="en-US"/>
              <a:t>输入标准</a:t>
            </a:r>
            <a:r>
              <a:rPr lang="en-US" altLang="zh-CN"/>
              <a:t> Prompt</a:t>
            </a:r>
            <a:r>
              <a:rPr lang="zh-CN" altLang="en-US"/>
              <a:t>（指令）</a:t>
            </a:r>
            <a:endParaRPr lang="en-US" altLang="zh-CN"/>
          </a:p>
          <a:p>
            <a:r>
              <a:rPr lang="en-US" altLang="zh-CN"/>
              <a:t>   3. AI </a:t>
            </a:r>
            <a:r>
              <a:rPr lang="zh-CN" altLang="en-US"/>
              <a:t>生成初稿</a:t>
            </a:r>
            <a:endParaRPr lang="en-US" altLang="zh-CN"/>
          </a:p>
          <a:p>
            <a:r>
              <a:rPr lang="en-US" altLang="zh-CN"/>
              <a:t>   4. </a:t>
            </a:r>
            <a:r>
              <a:rPr lang="zh-CN" altLang="en-US"/>
              <a:t>人工</a:t>
            </a:r>
            <a:r>
              <a:rPr lang="en-US" altLang="zh-CN"/>
              <a:t>/</a:t>
            </a:r>
            <a:r>
              <a:rPr lang="zh-CN" altLang="en-US"/>
              <a:t>代码验证（查重</a:t>
            </a:r>
            <a:r>
              <a:rPr lang="en-US" altLang="zh-CN"/>
              <a:t>+</a:t>
            </a:r>
            <a:r>
              <a:rPr lang="zh-CN" altLang="en-US"/>
              <a:t>审核）</a:t>
            </a:r>
            <a:endParaRPr lang="en-US" altLang="zh-CN"/>
          </a:p>
          <a:p>
            <a:endParaRPr lang="en-US" altLang="zh-CN"/>
          </a:p>
          <a:p>
            <a:r>
              <a:rPr lang="zh-CN" altLang="zh-CN"/>
              <a:t>输出标准：</a:t>
            </a:r>
            <a:endParaRPr lang="en-US" altLang="zh-CN"/>
          </a:p>
          <a:p>
            <a:r>
              <a:rPr lang="en-US" altLang="zh-CN"/>
              <a:t>   </a:t>
            </a:r>
            <a:r>
              <a:rPr lang="zh-CN" altLang="en-US"/>
              <a:t>包含题干、五个选项（</a:t>
            </a:r>
            <a:r>
              <a:rPr lang="en-US" altLang="zh-CN"/>
              <a:t>A-E</a:t>
            </a:r>
            <a:r>
              <a:rPr lang="zh-CN" altLang="en-US"/>
              <a:t>）、正确答案、详细解析</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二、通用</a:t>
            </a:r>
            <a:r>
              <a:rPr lang="en-US" altLang="zh-CN"/>
              <a:t> Prompt </a:t>
            </a:r>
            <a:r>
              <a:rPr lang="zh-CN" altLang="en-US"/>
              <a:t>设计</a:t>
            </a:r>
            <a:endParaRPr lang="zh-CN" altLang="en-US"/>
          </a:p>
        </p:txBody>
      </p:sp>
      <p:sp>
        <p:nvSpPr>
          <p:cNvPr id="3" name="内容占位符 2"/>
          <p:cNvSpPr>
            <a:spLocks noGrp="1"/>
          </p:cNvSpPr>
          <p:nvPr>
            <p:ph idx="1"/>
          </p:nvPr>
        </p:nvSpPr>
        <p:spPr/>
        <p:txBody>
          <a:bodyPr/>
          <a:p>
            <a:r>
              <a:rPr lang="zh-CN" altLang="en-US"/>
              <a:t>基本原则：模型生成的题目必须是纯文本形式</a:t>
            </a:r>
            <a:endParaRPr lang="en-US" altLang="zh-CN"/>
          </a:p>
          <a:p>
            <a:endParaRPr lang="en-US" altLang="zh-CN"/>
          </a:p>
          <a:p>
            <a:r>
              <a:rPr lang="en-US" altLang="zh-CN"/>
              <a:t>Prompt </a:t>
            </a:r>
            <a:r>
              <a:rPr lang="zh-CN" altLang="en-US"/>
              <a:t>标准结构公式：</a:t>
            </a:r>
            <a:endParaRPr lang="en-US" altLang="zh-CN"/>
          </a:p>
          <a:p>
            <a:r>
              <a:rPr lang="en-US" altLang="zh-CN"/>
              <a:t>   1. </a:t>
            </a:r>
            <a:r>
              <a:rPr lang="zh-CN" altLang="en-US"/>
              <a:t>角色设定：</a:t>
            </a:r>
            <a:r>
              <a:rPr lang="en-US" altLang="zh-CN"/>
              <a:t>“</a:t>
            </a:r>
            <a:r>
              <a:rPr lang="zh-CN" altLang="en-US"/>
              <a:t>你是一个专业的医学出题专家</a:t>
            </a:r>
            <a:r>
              <a:rPr lang="en-US" altLang="zh-CN"/>
              <a:t>...”</a:t>
            </a:r>
            <a:endParaRPr lang="en-US" altLang="zh-CN"/>
          </a:p>
          <a:p>
            <a:r>
              <a:rPr lang="en-US" altLang="zh-CN"/>
              <a:t>   2. </a:t>
            </a:r>
            <a:r>
              <a:rPr lang="zh-CN" altLang="en-US"/>
              <a:t>考纲输入：</a:t>
            </a:r>
            <a:r>
              <a:rPr lang="en-US" altLang="zh-CN"/>
              <a:t>[</a:t>
            </a:r>
            <a:r>
              <a:rPr lang="zh-CN" altLang="en-US"/>
              <a:t>内填具体考点</a:t>
            </a:r>
            <a:r>
              <a:rPr lang="en-US" altLang="zh-CN"/>
              <a:t>]</a:t>
            </a:r>
            <a:endParaRPr lang="en-US" altLang="zh-CN"/>
          </a:p>
          <a:p>
            <a:r>
              <a:rPr lang="en-US" altLang="zh-CN"/>
              <a:t>   3. </a:t>
            </a:r>
            <a:r>
              <a:rPr lang="zh-CN" altLang="en-US"/>
              <a:t>示例投喂</a:t>
            </a:r>
            <a:r>
              <a:rPr lang="en-US" altLang="zh-CN"/>
              <a:t> (Few-Shot)</a:t>
            </a:r>
            <a:r>
              <a:rPr lang="zh-CN" altLang="en-US"/>
              <a:t>：</a:t>
            </a:r>
            <a:r>
              <a:rPr lang="en-US" altLang="zh-CN"/>
              <a:t>[</a:t>
            </a:r>
            <a:r>
              <a:rPr lang="zh-CN" altLang="en-US"/>
              <a:t>复制题库真题</a:t>
            </a:r>
            <a:r>
              <a:rPr lang="en-US" altLang="zh-CN"/>
              <a:t>] —— </a:t>
            </a:r>
            <a:r>
              <a:rPr lang="zh-CN" altLang="en-US"/>
              <a:t>最关键步骤</a:t>
            </a:r>
            <a:endParaRPr lang="en-US" altLang="zh-CN"/>
          </a:p>
          <a:p>
            <a:r>
              <a:rPr lang="en-US" altLang="zh-CN"/>
              <a:t>   4. </a:t>
            </a:r>
            <a:r>
              <a:rPr lang="zh-CN" altLang="en-US"/>
              <a:t>格式要求：明确题干、选项、解析的排版</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三、护理学科</a:t>
            </a:r>
            <a:endParaRPr lang="zh-CN" altLang="en-US"/>
          </a:p>
        </p:txBody>
      </p:sp>
      <p:sp>
        <p:nvSpPr>
          <p:cNvPr id="3" name="内容占位符 2"/>
          <p:cNvSpPr>
            <a:spLocks noGrp="1"/>
          </p:cNvSpPr>
          <p:nvPr>
            <p:ph idx="1"/>
          </p:nvPr>
        </p:nvSpPr>
        <p:spPr/>
        <p:txBody>
          <a:bodyPr>
            <a:normAutofit lnSpcReduction="10000"/>
          </a:bodyPr>
          <a:p>
            <a:r>
              <a:rPr lang="en-US" altLang="zh-CN">
                <a:solidFill>
                  <a:srgbClr val="FF0000"/>
                </a:solidFill>
              </a:rPr>
              <a:t>1. </a:t>
            </a:r>
            <a:r>
              <a:rPr lang="zh-CN" altLang="en-US">
                <a:solidFill>
                  <a:srgbClr val="FF0000"/>
                </a:solidFill>
              </a:rPr>
              <a:t>核心要求：字符串比对有显著差异</a:t>
            </a:r>
            <a:endParaRPr lang="en-US" altLang="zh-CN">
              <a:solidFill>
                <a:srgbClr val="FF0000"/>
              </a:solidFill>
            </a:endParaRPr>
          </a:p>
          <a:p>
            <a:endParaRPr lang="en-US" altLang="zh-CN"/>
          </a:p>
          <a:p>
            <a:r>
              <a:rPr lang="zh-CN" altLang="zh-CN"/>
              <a:t>主要技巧：</a:t>
            </a:r>
            <a:endParaRPr lang="en-US" altLang="zh-CN"/>
          </a:p>
          <a:p>
            <a:r>
              <a:rPr lang="en-US" altLang="zh-CN"/>
              <a:t>   1. </a:t>
            </a:r>
            <a:r>
              <a:rPr lang="zh-CN" altLang="en-US"/>
              <a:t>增加背景：在干涩题目中加入临床情境</a:t>
            </a:r>
            <a:endParaRPr lang="en-US" altLang="zh-CN"/>
          </a:p>
          <a:p>
            <a:r>
              <a:rPr lang="en-US" altLang="zh-CN"/>
              <a:t>   2. </a:t>
            </a:r>
            <a:r>
              <a:rPr lang="zh-CN" altLang="en-US"/>
              <a:t>表达修改：保持考点不变，改变提问方式</a:t>
            </a:r>
            <a:endParaRPr lang="en-US" altLang="zh-CN"/>
          </a:p>
          <a:p>
            <a:endParaRPr lang="en-US" altLang="zh-CN"/>
          </a:p>
          <a:p>
            <a:r>
              <a:rPr lang="zh-CN" altLang="zh-CN"/>
              <a:t>案例演示：</a:t>
            </a:r>
            <a:endParaRPr lang="en-US" altLang="zh-CN"/>
          </a:p>
          <a:p>
            <a:r>
              <a:rPr lang="en-US" altLang="zh-CN"/>
              <a:t>   </a:t>
            </a:r>
            <a:r>
              <a:rPr lang="zh-CN" altLang="en-US"/>
              <a:t>原题：</a:t>
            </a:r>
            <a:r>
              <a:rPr lang="en-US" altLang="zh-CN"/>
              <a:t>“</a:t>
            </a:r>
            <a:r>
              <a:rPr lang="zh-CN" altLang="en-US"/>
              <a:t>考虑什么诊断？</a:t>
            </a:r>
            <a:r>
              <a:rPr lang="en-US" altLang="zh-CN"/>
              <a:t>”</a:t>
            </a:r>
            <a:endParaRPr lang="en-US" altLang="zh-CN"/>
          </a:p>
          <a:p>
            <a:r>
              <a:rPr lang="en-US" altLang="zh-CN"/>
              <a:t>   AI</a:t>
            </a:r>
            <a:r>
              <a:rPr lang="zh-CN" altLang="en-US"/>
              <a:t>转化：</a:t>
            </a:r>
            <a:r>
              <a:rPr lang="en-US" altLang="zh-CN"/>
              <a:t>“</a:t>
            </a:r>
            <a:r>
              <a:rPr lang="zh-CN" altLang="en-US"/>
              <a:t>患者最可能的诊断是什么？</a:t>
            </a:r>
            <a:r>
              <a:rPr lang="en-US" altLang="zh-CN"/>
              <a:t>”</a:t>
            </a:r>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三、</a:t>
            </a:r>
            <a:r>
              <a:rPr lang="zh-CN" altLang="en-US"/>
              <a:t>护理学科</a:t>
            </a:r>
            <a:endParaRPr lang="zh-CN" altLang="en-US"/>
          </a:p>
        </p:txBody>
      </p:sp>
      <p:sp>
        <p:nvSpPr>
          <p:cNvPr id="3" name="内容占位符 2"/>
          <p:cNvSpPr>
            <a:spLocks noGrp="1"/>
          </p:cNvSpPr>
          <p:nvPr>
            <p:ph idx="1"/>
          </p:nvPr>
        </p:nvSpPr>
        <p:spPr/>
        <p:txBody>
          <a:bodyPr/>
          <a:p>
            <a:r>
              <a:rPr lang="zh-CN" altLang="en-US"/>
              <a:t>进阶技巧：题型转换</a:t>
            </a:r>
            <a:endParaRPr lang="en-US" altLang="zh-CN"/>
          </a:p>
          <a:p>
            <a:endParaRPr lang="en-US" altLang="zh-CN"/>
          </a:p>
          <a:p>
            <a:r>
              <a:rPr lang="zh-CN" altLang="zh-CN"/>
              <a:t>三大战术：</a:t>
            </a:r>
            <a:endParaRPr lang="en-US" altLang="zh-CN"/>
          </a:p>
          <a:p>
            <a:r>
              <a:rPr lang="en-US" altLang="zh-CN"/>
              <a:t>   1. A2 </a:t>
            </a:r>
            <a:r>
              <a:rPr lang="zh-CN" altLang="en-US"/>
              <a:t>降维</a:t>
            </a:r>
            <a:r>
              <a:rPr lang="en-US" altLang="zh-CN"/>
              <a:t> A1/B</a:t>
            </a:r>
            <a:r>
              <a:rPr lang="zh-CN" altLang="en-US"/>
              <a:t>：删去病例，只留核心考点</a:t>
            </a:r>
            <a:endParaRPr lang="en-US" altLang="zh-CN"/>
          </a:p>
          <a:p>
            <a:r>
              <a:rPr lang="en-US" altLang="zh-CN"/>
              <a:t>   2. A1 </a:t>
            </a:r>
            <a:r>
              <a:rPr lang="zh-CN" altLang="en-US"/>
              <a:t>升维</a:t>
            </a:r>
            <a:r>
              <a:rPr lang="en-US" altLang="zh-CN"/>
              <a:t> X</a:t>
            </a:r>
            <a:r>
              <a:rPr lang="zh-CN" altLang="en-US"/>
              <a:t>型：单选变多选</a:t>
            </a:r>
            <a:r>
              <a:rPr lang="en-US" altLang="zh-CN"/>
              <a:t>/</a:t>
            </a:r>
            <a:r>
              <a:rPr lang="zh-CN" altLang="en-US"/>
              <a:t>不定项</a:t>
            </a:r>
            <a:endParaRPr lang="en-US" altLang="zh-CN"/>
          </a:p>
          <a:p>
            <a:r>
              <a:rPr lang="en-US" altLang="zh-CN"/>
              <a:t>   3. A1/B </a:t>
            </a:r>
            <a:r>
              <a:rPr lang="zh-CN" altLang="en-US"/>
              <a:t>升维</a:t>
            </a:r>
            <a:r>
              <a:rPr lang="en-US" altLang="zh-CN"/>
              <a:t> A2</a:t>
            </a:r>
            <a:r>
              <a:rPr lang="zh-CN" altLang="en-US"/>
              <a:t>：增加病例背景</a:t>
            </a:r>
            <a:r>
              <a:rPr lang="en-US" altLang="zh-CN"/>
              <a:t> (</a:t>
            </a:r>
            <a:r>
              <a:rPr lang="zh-CN" altLang="en-US"/>
              <a:t>最常用</a:t>
            </a:r>
            <a:r>
              <a:rPr lang="en-US" altLang="zh-CN"/>
              <a:t>)</a:t>
            </a:r>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实战：题型转换</a:t>
            </a:r>
            <a:r>
              <a:rPr lang="en-US" altLang="zh-CN"/>
              <a:t> (A2 → A1)</a:t>
            </a:r>
            <a:endParaRPr lang="en-US" altLang="zh-CN"/>
          </a:p>
        </p:txBody>
      </p:sp>
      <p:sp>
        <p:nvSpPr>
          <p:cNvPr id="3" name="内容占位符 2"/>
          <p:cNvSpPr>
            <a:spLocks noGrp="1"/>
          </p:cNvSpPr>
          <p:nvPr>
            <p:ph idx="1"/>
          </p:nvPr>
        </p:nvSpPr>
        <p:spPr/>
        <p:txBody>
          <a:bodyPr/>
          <a:p>
            <a:r>
              <a:rPr lang="zh-CN" altLang="en-US"/>
              <a:t>技巧：化繁为简</a:t>
            </a:r>
            <a:endParaRPr lang="en-US" altLang="zh-CN"/>
          </a:p>
          <a:p>
            <a:endParaRPr lang="en-US" altLang="zh-CN"/>
          </a:p>
          <a:p>
            <a:r>
              <a:rPr lang="zh-CN" altLang="zh-CN"/>
              <a:t>案例：压力性尿失禁</a:t>
            </a:r>
            <a:endParaRPr lang="en-US" altLang="zh-CN"/>
          </a:p>
          <a:p>
            <a:r>
              <a:rPr lang="en-US" altLang="zh-CN"/>
              <a:t>   </a:t>
            </a:r>
            <a:r>
              <a:rPr lang="zh-CN" altLang="en-US"/>
              <a:t>原题</a:t>
            </a:r>
            <a:r>
              <a:rPr lang="en-US" altLang="zh-CN"/>
              <a:t> (A2)</a:t>
            </a:r>
            <a:r>
              <a:rPr lang="zh-CN" altLang="en-US"/>
              <a:t>：</a:t>
            </a:r>
            <a:r>
              <a:rPr lang="en-US" altLang="zh-CN"/>
              <a:t>30</a:t>
            </a:r>
            <a:r>
              <a:rPr lang="zh-CN" altLang="en-US"/>
              <a:t>岁女性，咳嗽打喷嚏漏尿，静息无溢尿</a:t>
            </a:r>
            <a:r>
              <a:rPr lang="en-US" altLang="zh-CN"/>
              <a:t>...</a:t>
            </a:r>
            <a:r>
              <a:rPr lang="zh-CN" altLang="en-US"/>
              <a:t>诊断考虑？</a:t>
            </a:r>
            <a:endParaRPr lang="en-US" altLang="zh-CN"/>
          </a:p>
          <a:p>
            <a:r>
              <a:rPr lang="en-US" altLang="zh-CN"/>
              <a:t>   </a:t>
            </a:r>
            <a:r>
              <a:rPr lang="zh-CN" altLang="en-US"/>
              <a:t>转化</a:t>
            </a:r>
            <a:r>
              <a:rPr lang="en-US" altLang="zh-CN"/>
              <a:t> (A1)</a:t>
            </a:r>
            <a:r>
              <a:rPr lang="zh-CN" altLang="en-US"/>
              <a:t>：咳嗽、剧烈运动时无法控制的小便溢出，最可能的诊断是？</a:t>
            </a:r>
            <a:endParaRPr lang="en-US" altLang="zh-CN"/>
          </a:p>
          <a:p>
            <a:endParaRPr lang="en-US" altLang="zh-CN"/>
          </a:p>
          <a:p>
            <a:r>
              <a:rPr lang="zh-CN" altLang="zh-CN"/>
              <a:t>要点：</a:t>
            </a:r>
            <a:endParaRPr lang="en-US" altLang="zh-CN"/>
          </a:p>
          <a:p>
            <a:r>
              <a:rPr lang="en-US" altLang="zh-CN"/>
              <a:t>   </a:t>
            </a:r>
            <a:r>
              <a:rPr lang="zh-CN" altLang="en-US"/>
              <a:t>提取核心症状，剥离患者年龄、性别等非必要干扰项</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实战：题型转换</a:t>
            </a:r>
            <a:r>
              <a:rPr lang="en-US" altLang="zh-CN"/>
              <a:t> (A1 → A2)</a:t>
            </a:r>
            <a:endParaRPr lang="en-US" altLang="zh-CN"/>
          </a:p>
        </p:txBody>
      </p:sp>
      <p:sp>
        <p:nvSpPr>
          <p:cNvPr id="3" name="内容占位符 2"/>
          <p:cNvSpPr>
            <a:spLocks noGrp="1"/>
          </p:cNvSpPr>
          <p:nvPr>
            <p:ph idx="1"/>
          </p:nvPr>
        </p:nvSpPr>
        <p:spPr/>
        <p:txBody>
          <a:bodyPr/>
          <a:p>
            <a:r>
              <a:rPr lang="zh-CN" altLang="en-US"/>
              <a:t>技巧：无中生有</a:t>
            </a:r>
            <a:endParaRPr lang="en-US" altLang="zh-CN"/>
          </a:p>
          <a:p>
            <a:endParaRPr lang="en-US" altLang="zh-CN"/>
          </a:p>
          <a:p>
            <a:r>
              <a:rPr lang="zh-CN" altLang="zh-CN"/>
              <a:t>原理：给干瘪的知识点穿上</a:t>
            </a:r>
            <a:r>
              <a:rPr lang="en-US" altLang="zh-CN"/>
              <a:t>“</a:t>
            </a:r>
            <a:r>
              <a:rPr lang="zh-CN" altLang="en-US"/>
              <a:t>病例</a:t>
            </a:r>
            <a:r>
              <a:rPr lang="en-US" altLang="zh-CN"/>
              <a:t>”</a:t>
            </a:r>
            <a:r>
              <a:rPr lang="zh-CN" altLang="en-US"/>
              <a:t>的外衣</a:t>
            </a:r>
            <a:endParaRPr lang="en-US" altLang="zh-CN"/>
          </a:p>
          <a:p>
            <a:r>
              <a:rPr lang="zh-CN" altLang="zh-CN"/>
              <a:t>案例：前列腺增生</a:t>
            </a:r>
            <a:r>
              <a:rPr lang="en-US" altLang="zh-CN"/>
              <a:t> (BPH)</a:t>
            </a:r>
            <a:endParaRPr lang="en-US" altLang="zh-CN"/>
          </a:p>
          <a:p>
            <a:r>
              <a:rPr lang="en-US" altLang="zh-CN"/>
              <a:t>   </a:t>
            </a:r>
            <a:r>
              <a:rPr lang="zh-CN" altLang="en-US"/>
              <a:t>原题</a:t>
            </a:r>
            <a:r>
              <a:rPr lang="en-US" altLang="zh-CN"/>
              <a:t> (A1)</a:t>
            </a:r>
            <a:r>
              <a:rPr lang="zh-CN" altLang="en-US"/>
              <a:t>：前列腺增生症最早出现的症状往往是？</a:t>
            </a:r>
            <a:r>
              <a:rPr lang="en-US" altLang="zh-CN"/>
              <a:t>(A. </a:t>
            </a:r>
            <a:r>
              <a:rPr lang="zh-CN" altLang="en-US"/>
              <a:t>尿频</a:t>
            </a:r>
            <a:r>
              <a:rPr lang="en-US" altLang="zh-CN"/>
              <a:t> ...)</a:t>
            </a:r>
            <a:endParaRPr lang="en-US" altLang="zh-CN"/>
          </a:p>
          <a:p>
            <a:r>
              <a:rPr lang="en-US" altLang="zh-CN"/>
              <a:t>   </a:t>
            </a:r>
            <a:r>
              <a:rPr lang="zh-CN" altLang="en-US"/>
              <a:t>转化</a:t>
            </a:r>
            <a:r>
              <a:rPr lang="en-US" altLang="zh-CN"/>
              <a:t> (A2)</a:t>
            </a:r>
            <a:r>
              <a:rPr lang="zh-CN" altLang="en-US"/>
              <a:t>：患者男</a:t>
            </a:r>
            <a:r>
              <a:rPr lang="en-US" altLang="zh-CN"/>
              <a:t>69</a:t>
            </a:r>
            <a:r>
              <a:rPr lang="zh-CN" altLang="en-US"/>
              <a:t>岁，外院查前列腺体积增大</a:t>
            </a:r>
            <a:r>
              <a:rPr lang="en-US" altLang="zh-CN"/>
              <a:t>...</a:t>
            </a:r>
            <a:r>
              <a:rPr lang="zh-CN" altLang="en-US"/>
              <a:t>该患者最早出现的症状最可能是？</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实战：移花接木</a:t>
            </a:r>
            <a:r>
              <a:rPr lang="en-US" altLang="zh-CN"/>
              <a:t> (</a:t>
            </a:r>
            <a:r>
              <a:rPr lang="zh-CN" altLang="en-US"/>
              <a:t>病例改编</a:t>
            </a:r>
            <a:r>
              <a:rPr lang="en-US" altLang="zh-CN"/>
              <a:t>)</a:t>
            </a:r>
            <a:br>
              <a:rPr lang="en-US" altLang="zh-CN"/>
            </a:br>
            <a:endParaRPr lang="en-US" altLang="zh-CN"/>
          </a:p>
        </p:txBody>
      </p:sp>
      <p:sp>
        <p:nvSpPr>
          <p:cNvPr id="3" name="内容占位符 2"/>
          <p:cNvSpPr>
            <a:spLocks noGrp="1"/>
          </p:cNvSpPr>
          <p:nvPr>
            <p:ph idx="1"/>
          </p:nvPr>
        </p:nvSpPr>
        <p:spPr/>
        <p:txBody>
          <a:bodyPr/>
          <a:p>
            <a:endParaRPr lang="en-US" altLang="zh-CN"/>
          </a:p>
          <a:p>
            <a:r>
              <a:rPr lang="zh-CN" altLang="zh-CN"/>
              <a:t>场景：已有病例题，需出新题但不想完全重复</a:t>
            </a:r>
            <a:endParaRPr lang="en-US" altLang="zh-CN"/>
          </a:p>
          <a:p>
            <a:r>
              <a:rPr lang="zh-CN" altLang="zh-CN"/>
              <a:t>操作：修改非关键信息</a:t>
            </a:r>
            <a:r>
              <a:rPr lang="en-US" altLang="zh-CN"/>
              <a:t> (</a:t>
            </a:r>
            <a:r>
              <a:rPr lang="zh-CN" altLang="en-US"/>
              <a:t>年龄、病程、诱因</a:t>
            </a:r>
            <a:r>
              <a:rPr lang="en-US" altLang="zh-CN"/>
              <a:t>)</a:t>
            </a:r>
            <a:r>
              <a:rPr lang="zh-CN" altLang="en-US"/>
              <a:t>，保留核心指征</a:t>
            </a:r>
            <a:endParaRPr lang="en-US" altLang="zh-CN"/>
          </a:p>
          <a:p>
            <a:endParaRPr lang="en-US" altLang="zh-CN"/>
          </a:p>
          <a:p>
            <a:r>
              <a:rPr lang="zh-CN" altLang="zh-CN"/>
              <a:t>案例演示：</a:t>
            </a:r>
            <a:endParaRPr lang="en-US" altLang="zh-CN"/>
          </a:p>
          <a:p>
            <a:r>
              <a:rPr lang="en-US" altLang="zh-CN"/>
              <a:t>   </a:t>
            </a:r>
            <a:r>
              <a:rPr lang="zh-CN" altLang="en-US"/>
              <a:t>原病例：男，</a:t>
            </a:r>
            <a:r>
              <a:rPr lang="en-US" altLang="zh-CN"/>
              <a:t>83</a:t>
            </a:r>
            <a:r>
              <a:rPr lang="zh-CN" altLang="en-US"/>
              <a:t>岁，血尿</a:t>
            </a:r>
            <a:r>
              <a:rPr lang="en-US" altLang="zh-CN"/>
              <a:t>1</a:t>
            </a:r>
            <a:r>
              <a:rPr lang="zh-CN" altLang="en-US"/>
              <a:t>月余</a:t>
            </a:r>
            <a:r>
              <a:rPr lang="en-US" altLang="zh-CN"/>
              <a:t>... (</a:t>
            </a:r>
            <a:r>
              <a:rPr lang="zh-CN" altLang="en-US"/>
              <a:t>膀胱癌</a:t>
            </a:r>
            <a:r>
              <a:rPr lang="en-US" altLang="zh-CN"/>
              <a:t>)</a:t>
            </a:r>
            <a:endParaRPr lang="en-US" altLang="zh-CN"/>
          </a:p>
          <a:p>
            <a:r>
              <a:rPr lang="en-US" altLang="zh-CN"/>
              <a:t>   AI</a:t>
            </a:r>
            <a:r>
              <a:rPr lang="zh-CN" altLang="en-US"/>
              <a:t>改编：男，</a:t>
            </a:r>
            <a:r>
              <a:rPr lang="en-US" altLang="zh-CN"/>
              <a:t>72</a:t>
            </a:r>
            <a:r>
              <a:rPr lang="zh-CN" altLang="en-US"/>
              <a:t>岁，洗肉水样血尿</a:t>
            </a:r>
            <a:r>
              <a:rPr lang="en-US" altLang="zh-CN"/>
              <a:t>2</a:t>
            </a:r>
            <a:r>
              <a:rPr lang="zh-CN" altLang="en-US"/>
              <a:t>月余</a:t>
            </a:r>
            <a:r>
              <a:rPr lang="en-US" altLang="zh-CN"/>
              <a:t>... (</a:t>
            </a:r>
            <a:r>
              <a:rPr lang="zh-CN" altLang="en-US"/>
              <a:t>膀胱癌</a:t>
            </a:r>
            <a:r>
              <a:rPr lang="en-US" altLang="zh-CN"/>
              <a:t>)</a:t>
            </a:r>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四、泌尿外科</a:t>
            </a:r>
            <a:endParaRPr lang="zh-CN" altLang="en-US"/>
          </a:p>
        </p:txBody>
      </p:sp>
      <p:sp>
        <p:nvSpPr>
          <p:cNvPr id="3" name="内容占位符 2"/>
          <p:cNvSpPr>
            <a:spLocks noGrp="1"/>
          </p:cNvSpPr>
          <p:nvPr>
            <p:ph idx="1"/>
          </p:nvPr>
        </p:nvSpPr>
        <p:spPr/>
        <p:txBody>
          <a:bodyPr>
            <a:normAutofit lnSpcReduction="20000"/>
          </a:bodyPr>
          <a:p>
            <a:pPr fontAlgn="auto">
              <a:lnSpc>
                <a:spcPct val="120000"/>
              </a:lnSpc>
            </a:pPr>
            <a:r>
              <a:rPr lang="zh-CN" altLang="en-US">
                <a:solidFill>
                  <a:srgbClr val="FF0000"/>
                </a:solidFill>
                <a:latin typeface="黑体" panose="02010609060101010101" charset="-122"/>
                <a:ea typeface="黑体" panose="02010609060101010101" charset="-122"/>
                <a:cs typeface="黑体" panose="02010609060101010101" charset="-122"/>
              </a:rPr>
              <a:t>核心要求：我们需要做出一个</a:t>
            </a:r>
            <a:r>
              <a:rPr lang="en-US" altLang="zh-CN">
                <a:solidFill>
                  <a:srgbClr val="FF0000"/>
                </a:solidFill>
                <a:latin typeface="黑体" panose="02010609060101010101" charset="-122"/>
                <a:ea typeface="黑体" panose="02010609060101010101" charset="-122"/>
                <a:cs typeface="黑体" panose="02010609060101010101" charset="-122"/>
              </a:rPr>
              <a:t>AI</a:t>
            </a:r>
            <a:r>
              <a:rPr lang="zh-CN" altLang="en-US">
                <a:solidFill>
                  <a:srgbClr val="FF0000"/>
                </a:solidFill>
                <a:latin typeface="黑体" panose="02010609060101010101" charset="-122"/>
                <a:ea typeface="黑体" panose="02010609060101010101" charset="-122"/>
                <a:cs typeface="黑体" panose="02010609060101010101" charset="-122"/>
              </a:rPr>
              <a:t>自己的题库，即针对</a:t>
            </a:r>
            <a:r>
              <a:rPr lang="en-US" altLang="zh-CN">
                <a:solidFill>
                  <a:srgbClr val="FF0000"/>
                </a:solidFill>
                <a:latin typeface="黑体" panose="02010609060101010101" charset="-122"/>
                <a:ea typeface="黑体" panose="02010609060101010101" charset="-122"/>
                <a:cs typeface="黑体" panose="02010609060101010101" charset="-122"/>
              </a:rPr>
              <a:t>A1</a:t>
            </a:r>
            <a:r>
              <a:rPr lang="zh-CN" altLang="en-US">
                <a:solidFill>
                  <a:srgbClr val="FF0000"/>
                </a:solidFill>
                <a:latin typeface="黑体" panose="02010609060101010101" charset="-122"/>
                <a:ea typeface="黑体" panose="02010609060101010101" charset="-122"/>
                <a:cs typeface="黑体" panose="02010609060101010101" charset="-122"/>
              </a:rPr>
              <a:t>，</a:t>
            </a:r>
            <a:r>
              <a:rPr lang="en-US" altLang="zh-CN">
                <a:solidFill>
                  <a:srgbClr val="FF0000"/>
                </a:solidFill>
                <a:latin typeface="黑体" panose="02010609060101010101" charset="-122"/>
                <a:ea typeface="黑体" panose="02010609060101010101" charset="-122"/>
                <a:cs typeface="黑体" panose="02010609060101010101" charset="-122"/>
              </a:rPr>
              <a:t>A2</a:t>
            </a:r>
            <a:r>
              <a:rPr lang="zh-CN" altLang="en-US">
                <a:solidFill>
                  <a:srgbClr val="FF0000"/>
                </a:solidFill>
                <a:latin typeface="黑体" panose="02010609060101010101" charset="-122"/>
                <a:ea typeface="黑体" panose="02010609060101010101" charset="-122"/>
                <a:cs typeface="黑体" panose="02010609060101010101" charset="-122"/>
              </a:rPr>
              <a:t>，</a:t>
            </a:r>
            <a:r>
              <a:rPr lang="en-US" altLang="zh-CN">
                <a:solidFill>
                  <a:srgbClr val="FF0000"/>
                </a:solidFill>
                <a:latin typeface="黑体" panose="02010609060101010101" charset="-122"/>
                <a:ea typeface="黑体" panose="02010609060101010101" charset="-122"/>
                <a:cs typeface="黑体" panose="02010609060101010101" charset="-122"/>
              </a:rPr>
              <a:t>A3/4,B</a:t>
            </a:r>
            <a:r>
              <a:rPr lang="zh-CN" altLang="en-US">
                <a:solidFill>
                  <a:srgbClr val="FF0000"/>
                </a:solidFill>
                <a:latin typeface="黑体" panose="02010609060101010101" charset="-122"/>
                <a:ea typeface="黑体" panose="02010609060101010101" charset="-122"/>
                <a:cs typeface="黑体" panose="02010609060101010101" charset="-122"/>
              </a:rPr>
              <a:t>，</a:t>
            </a:r>
            <a:r>
              <a:rPr lang="en-US" altLang="zh-CN">
                <a:solidFill>
                  <a:srgbClr val="FF0000"/>
                </a:solidFill>
                <a:latin typeface="黑体" panose="02010609060101010101" charset="-122"/>
                <a:ea typeface="黑体" panose="02010609060101010101" charset="-122"/>
                <a:cs typeface="黑体" panose="02010609060101010101" charset="-122"/>
              </a:rPr>
              <a:t>X</a:t>
            </a:r>
            <a:r>
              <a:rPr lang="zh-CN" altLang="en-US">
                <a:solidFill>
                  <a:srgbClr val="FF0000"/>
                </a:solidFill>
                <a:latin typeface="黑体" panose="02010609060101010101" charset="-122"/>
                <a:ea typeface="黑体" panose="02010609060101010101" charset="-122"/>
                <a:cs typeface="黑体" panose="02010609060101010101" charset="-122"/>
              </a:rPr>
              <a:t>以及简答题每种题型各设计出一个对应的题库，每道题目前标注对应的考点（考点库以执业医师考试为准），当我们需要生成试卷时可以按照试卷所要求的题型比例从对应题型题库按合理的考点比例提取需要的题目数量。（即抽出的题目中每个考点分数分配合理）</a:t>
            </a:r>
            <a:endParaRPr lang="en-US" altLang="zh-CN">
              <a:solidFill>
                <a:srgbClr val="FF0000"/>
              </a:solidFill>
            </a:endParaRPr>
          </a:p>
          <a:p>
            <a:pPr marL="0" indent="0">
              <a:buNone/>
            </a:pPr>
            <a:endParaRPr lang="zh-CN" altLang="en-US">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p:cNvPicPr>
            <a:picLocks noChangeAspect="1"/>
          </p:cNvPicPr>
          <p:nvPr>
            <p:ph idx="1"/>
          </p:nvPr>
        </p:nvPicPr>
        <p:blipFill>
          <a:blip r:embed="rId1"/>
          <a:stretch>
            <a:fillRect/>
          </a:stretch>
        </p:blipFill>
        <p:spPr>
          <a:xfrm>
            <a:off x="759460" y="823595"/>
            <a:ext cx="9284335" cy="55283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四、</a:t>
            </a:r>
            <a:r>
              <a:rPr lang="zh-CN" altLang="en-US"/>
              <a:t>泌尿外科</a:t>
            </a:r>
            <a:endParaRPr lang="zh-CN" altLang="en-US"/>
          </a:p>
        </p:txBody>
      </p:sp>
      <p:sp>
        <p:nvSpPr>
          <p:cNvPr id="3" name="内容占位符 2"/>
          <p:cNvSpPr>
            <a:spLocks noGrp="1"/>
          </p:cNvSpPr>
          <p:nvPr>
            <p:ph idx="1"/>
          </p:nvPr>
        </p:nvSpPr>
        <p:spPr/>
        <p:txBody>
          <a:bodyPr/>
          <a:p>
            <a:r>
              <a:rPr lang="zh-CN" altLang="en-US"/>
              <a:t>出题要求：依据给定的患者的真实病例，生成对应的题目。注意生成时可以小幅修改患者的一些基础信息如年龄生活史，如有必要也可以修改其他信息等。要求在提供有出题所需病例，想要考察的考点内容，以及出题所需的基础</a:t>
            </a:r>
            <a:r>
              <a:rPr lang="en-US" altLang="zh-CN"/>
              <a:t>prompt</a:t>
            </a:r>
            <a:r>
              <a:rPr lang="zh-CN" altLang="en-US"/>
              <a:t>描述和题库中示例题目之后由</a:t>
            </a:r>
            <a:r>
              <a:rPr lang="en-US" altLang="zh-CN"/>
              <a:t>AI</a:t>
            </a:r>
            <a:r>
              <a:rPr lang="zh-CN" altLang="en-US"/>
              <a:t>生成全新题目，全新题目需交由字符串验证确定与题库中所有已有题目均不</a:t>
            </a:r>
            <a:r>
              <a:rPr lang="zh-CN" altLang="en-US"/>
              <a:t>相似。</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五、质量把控机制</a:t>
            </a:r>
            <a:endParaRPr lang="zh-CN" altLang="en-US"/>
          </a:p>
        </p:txBody>
      </p:sp>
      <p:sp>
        <p:nvSpPr>
          <p:cNvPr id="3" name="内容占位符 2"/>
          <p:cNvSpPr>
            <a:spLocks noGrp="1"/>
          </p:cNvSpPr>
          <p:nvPr>
            <p:ph idx="1"/>
          </p:nvPr>
        </p:nvSpPr>
        <p:spPr/>
        <p:txBody>
          <a:bodyPr/>
          <a:p>
            <a:r>
              <a:rPr lang="en-US" altLang="en-US"/>
              <a:t>1. </a:t>
            </a:r>
            <a:r>
              <a:rPr lang="zh-CN" altLang="en-US"/>
              <a:t>机器初审</a:t>
            </a:r>
            <a:r>
              <a:rPr lang="en-US" altLang="zh-CN"/>
              <a:t> (</a:t>
            </a:r>
            <a:r>
              <a:rPr lang="zh-CN" altLang="en-US"/>
              <a:t>硬指标</a:t>
            </a:r>
            <a:r>
              <a:rPr lang="en-US" altLang="zh-CN"/>
              <a:t>)</a:t>
            </a:r>
            <a:endParaRPr lang="en-US" altLang="zh-CN"/>
          </a:p>
          <a:p>
            <a:r>
              <a:rPr lang="en-US" altLang="zh-CN"/>
              <a:t>   </a:t>
            </a:r>
            <a:r>
              <a:rPr lang="zh-CN" altLang="en-US"/>
              <a:t>工具：</a:t>
            </a:r>
            <a:r>
              <a:rPr lang="en-US" altLang="zh-CN"/>
              <a:t>Python (FuzzyWuzzy </a:t>
            </a:r>
            <a:r>
              <a:rPr lang="zh-CN" altLang="en-US"/>
              <a:t>库</a:t>
            </a:r>
            <a:r>
              <a:rPr lang="en-US" altLang="zh-CN"/>
              <a:t>)</a:t>
            </a:r>
            <a:endParaRPr lang="en-US" altLang="zh-CN"/>
          </a:p>
          <a:p>
            <a:r>
              <a:rPr lang="en-US" altLang="zh-CN"/>
              <a:t>   </a:t>
            </a:r>
            <a:r>
              <a:rPr lang="zh-CN" altLang="en-US"/>
              <a:t>方法：计算</a:t>
            </a:r>
            <a:r>
              <a:rPr lang="en-US" altLang="zh-CN"/>
              <a:t> Levenshtein </a:t>
            </a:r>
            <a:r>
              <a:rPr lang="zh-CN" altLang="en-US"/>
              <a:t>距离</a:t>
            </a:r>
            <a:r>
              <a:rPr lang="en-US" altLang="zh-CN"/>
              <a:t> (</a:t>
            </a:r>
            <a:r>
              <a:rPr lang="zh-CN" altLang="en-US"/>
              <a:t>字符串相似度</a:t>
            </a:r>
            <a:r>
              <a:rPr lang="en-US" altLang="zh-CN"/>
              <a:t>)</a:t>
            </a:r>
            <a:endParaRPr lang="en-US" altLang="zh-CN"/>
          </a:p>
          <a:p>
            <a:r>
              <a:rPr lang="en-US" altLang="zh-CN"/>
              <a:t>   </a:t>
            </a:r>
            <a:r>
              <a:rPr lang="zh-CN" altLang="en-US"/>
              <a:t>标准：相似度过高</a:t>
            </a:r>
            <a:r>
              <a:rPr lang="en-US" altLang="zh-CN"/>
              <a:t> (&gt;80%) </a:t>
            </a:r>
            <a:r>
              <a:rPr lang="zh-CN" altLang="en-US"/>
              <a:t>视为抄袭，需重出</a:t>
            </a:r>
            <a:endParaRPr lang="en-US" altLang="zh-CN"/>
          </a:p>
          <a:p>
            <a:endParaRPr lang="en-US" altLang="zh-CN"/>
          </a:p>
          <a:p>
            <a:r>
              <a:rPr lang="en-US" altLang="zh-CN"/>
              <a:t>2. </a:t>
            </a:r>
            <a:r>
              <a:rPr lang="zh-CN" altLang="en-US"/>
              <a:t>专家复审</a:t>
            </a:r>
            <a:r>
              <a:rPr lang="en-US" altLang="zh-CN"/>
              <a:t> (</a:t>
            </a:r>
            <a:r>
              <a:rPr lang="zh-CN" altLang="en-US"/>
              <a:t>金标准</a:t>
            </a:r>
            <a:r>
              <a:rPr lang="en-US" altLang="zh-CN"/>
              <a:t>)</a:t>
            </a:r>
            <a:endParaRPr lang="en-US" altLang="zh-CN"/>
          </a:p>
          <a:p>
            <a:r>
              <a:rPr lang="en-US" altLang="zh-CN"/>
              <a:t>   </a:t>
            </a:r>
            <a:r>
              <a:rPr lang="zh-CN" altLang="en-US"/>
              <a:t>方法：将</a:t>
            </a:r>
            <a:r>
              <a:rPr lang="en-US" altLang="zh-CN"/>
              <a:t> AI </a:t>
            </a:r>
            <a:r>
              <a:rPr lang="zh-CN" altLang="en-US"/>
              <a:t>题目与题库真题混合</a:t>
            </a:r>
            <a:endParaRPr lang="en-US" altLang="zh-CN"/>
          </a:p>
          <a:p>
            <a:r>
              <a:rPr lang="en-US" altLang="zh-CN"/>
              <a:t>   </a:t>
            </a:r>
            <a:r>
              <a:rPr lang="zh-CN" altLang="en-US"/>
              <a:t>流程：盲审评定医学逻辑准确性</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六、总结与答疑</a:t>
            </a:r>
            <a:endParaRPr lang="zh-CN" altLang="en-US"/>
          </a:p>
        </p:txBody>
      </p:sp>
      <p:sp>
        <p:nvSpPr>
          <p:cNvPr id="3" name="内容占位符 2"/>
          <p:cNvSpPr>
            <a:spLocks noGrp="1"/>
          </p:cNvSpPr>
          <p:nvPr>
            <p:ph idx="1"/>
          </p:nvPr>
        </p:nvSpPr>
        <p:spPr/>
        <p:txBody>
          <a:bodyPr/>
          <a:p>
            <a:r>
              <a:rPr lang="zh-CN" altLang="en-US"/>
              <a:t>避坑指南</a:t>
            </a:r>
            <a:r>
              <a:rPr lang="en-US" altLang="zh-CN"/>
              <a:t> Summary</a:t>
            </a:r>
            <a:r>
              <a:rPr lang="zh-CN" altLang="en-US"/>
              <a:t>：</a:t>
            </a:r>
            <a:endParaRPr lang="en-US" altLang="zh-CN"/>
          </a:p>
          <a:p>
            <a:r>
              <a:rPr lang="en-US" altLang="zh-CN"/>
              <a:t>   1. </a:t>
            </a:r>
            <a:r>
              <a:rPr lang="zh-CN" altLang="en-US"/>
              <a:t>路径管理：代码操作时使用绝对路径</a:t>
            </a:r>
            <a:endParaRPr lang="en-US" altLang="zh-CN"/>
          </a:p>
          <a:p>
            <a:r>
              <a:rPr lang="en-US" altLang="zh-CN"/>
              <a:t>   2. </a:t>
            </a:r>
            <a:r>
              <a:rPr lang="zh-CN" altLang="en-US"/>
              <a:t>多样性：强迫</a:t>
            </a:r>
            <a:r>
              <a:rPr lang="en-US" altLang="zh-CN"/>
              <a:t> AI </a:t>
            </a:r>
            <a:r>
              <a:rPr lang="zh-CN" altLang="en-US"/>
              <a:t>使用不同问法</a:t>
            </a:r>
            <a:endParaRPr lang="en-US" altLang="zh-CN"/>
          </a:p>
          <a:p>
            <a:r>
              <a:rPr lang="en-US" altLang="zh-CN"/>
              <a:t>   3. </a:t>
            </a:r>
            <a:r>
              <a:rPr lang="zh-CN" altLang="en-US"/>
              <a:t>格式规范：严格检查</a:t>
            </a:r>
            <a:r>
              <a:rPr lang="en-US" altLang="zh-CN"/>
              <a:t> 5 </a:t>
            </a:r>
            <a:r>
              <a:rPr lang="zh-CN" altLang="en-US"/>
              <a:t>个选项</a:t>
            </a:r>
            <a:endParaRPr lang="en-US" altLang="zh-CN"/>
          </a:p>
          <a:p>
            <a:endParaRPr lang="en-US" altLang="zh-CN"/>
          </a:p>
          <a:p>
            <a:r>
              <a:rPr lang="en-US" altLang="zh-CN"/>
              <a:t>Q&amp;A</a:t>
            </a:r>
            <a:r>
              <a:rPr lang="zh-CN" altLang="en-US"/>
              <a:t>：</a:t>
            </a:r>
            <a:endParaRPr lang="en-US" altLang="zh-CN"/>
          </a:p>
          <a:p>
            <a:r>
              <a:rPr lang="en-US" altLang="zh-CN"/>
              <a:t>   </a:t>
            </a:r>
            <a:r>
              <a:rPr lang="zh-CN" altLang="en-US"/>
              <a:t>欢迎提问！</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1660</Words>
  <Application>WPS 演示</Application>
  <PresentationFormat>宽屏</PresentationFormat>
  <Paragraphs>116</Paragraphs>
  <Slides>14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14</vt:i4>
      </vt:variant>
    </vt:vector>
  </HeadingPairs>
  <TitlesOfParts>
    <vt:vector size="22" baseType="lpstr">
      <vt:lpstr>Arial</vt:lpstr>
      <vt:lpstr>宋体</vt:lpstr>
      <vt:lpstr>Wingdings</vt:lpstr>
      <vt:lpstr>黑体</vt:lpstr>
      <vt:lpstr>Calibri</vt:lpstr>
      <vt:lpstr>微软雅黑</vt:lpstr>
      <vt:lpstr>Arial Unicode MS</vt:lpstr>
      <vt:lpstr>WPS</vt:lpstr>
      <vt:lpstr>AI 辅助医学出题技巧与实战规范</vt:lpstr>
      <vt:lpstr>目录</vt:lpstr>
      <vt:lpstr>一、出题总览：核心逻辑</vt:lpstr>
      <vt:lpstr>二、通用 Prompt 设计</vt:lpstr>
      <vt:lpstr>三、护理学科</vt:lpstr>
      <vt:lpstr>三、护理学科</vt:lpstr>
      <vt:lpstr>实战：题型转换 (A2 → A1)</vt:lpstr>
      <vt:lpstr>实战：题型转换 (A1 → A2)</vt:lpstr>
      <vt:lpstr>实战：移花接木 (病例改编) </vt:lpstr>
      <vt:lpstr>四、泌尿外科</vt:lpstr>
      <vt:lpstr>PowerPoint 演示文稿</vt:lpstr>
      <vt:lpstr>四、泌尿外科</vt:lpstr>
      <vt:lpstr>五、质量把控机制</vt:lpstr>
      <vt:lpstr>六、总结与答疑</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yalong chen</dc:creator>
  <cp:lastModifiedBy>陈亚龙</cp:lastModifiedBy>
  <cp:revision>31</cp:revision>
  <dcterms:created xsi:type="dcterms:W3CDTF">2023-08-09T12:44:00Z</dcterms:created>
  <dcterms:modified xsi:type="dcterms:W3CDTF">2026-02-11T11:13:32Z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AA08B7C680284142B698735E9D812D63_12</vt:lpwstr>
  </property>
</Properties>
</file>